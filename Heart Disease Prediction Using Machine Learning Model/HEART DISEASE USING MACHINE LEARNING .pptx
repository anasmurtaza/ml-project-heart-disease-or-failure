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14"/>
  </p:notesMasterIdLst>
  <p:sldIdLst>
    <p:sldId id="257" r:id="rId2"/>
    <p:sldId id="258" r:id="rId3"/>
    <p:sldId id="259" r:id="rId4"/>
    <p:sldId id="282" r:id="rId5"/>
    <p:sldId id="299" r:id="rId6"/>
    <p:sldId id="285" r:id="rId7"/>
    <p:sldId id="269" r:id="rId8"/>
    <p:sldId id="300" r:id="rId9"/>
    <p:sldId id="301" r:id="rId10"/>
    <p:sldId id="293" r:id="rId11"/>
    <p:sldId id="296" r:id="rId12"/>
    <p:sldId id="30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6D4DEB-25FF-4640-94D0-B8ED94FC0F86}" type="datetimeFigureOut">
              <a:rPr lang="en-US" smtClean="0"/>
              <a:t>6/13/2025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CD4C1-6794-43AC-8736-3569A3CFF594}" type="slidenum">
              <a:rPr lang="en-US" smtClean="0"/>
              <a:t>‹#›</a:t>
            </a:fld>
            <a:endParaRPr lang="en-US"/>
          </a:p>
        </p:txBody>
      </p:sp>
    </p:spTree>
    <p:extLst>
      <p:ext uri="{BB962C8B-B14F-4D97-AF65-F5344CB8AC3E}">
        <p14:creationId xmlns:p14="http://schemas.microsoft.com/office/powerpoint/2010/main" val="1405279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9FE27A-A823-43B6-AF27-F900CDA361FB}" type="slidenum">
              <a:rPr lang="en-US" smtClean="0"/>
              <a:pPr/>
              <a:t>1</a:t>
            </a:fld>
            <a:endParaRPr lang="en-US" dirty="0"/>
          </a:p>
        </p:txBody>
      </p:sp>
    </p:spTree>
    <p:extLst>
      <p:ext uri="{BB962C8B-B14F-4D97-AF65-F5344CB8AC3E}">
        <p14:creationId xmlns:p14="http://schemas.microsoft.com/office/powerpoint/2010/main" val="1468355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52CD4C1-6794-43AC-8736-3569A3CFF594}" type="slidenum">
              <a:rPr lang="en-US" smtClean="0"/>
              <a:t>2</a:t>
            </a:fld>
            <a:endParaRPr lang="en-US"/>
          </a:p>
        </p:txBody>
      </p:sp>
    </p:spTree>
    <p:extLst>
      <p:ext uri="{BB962C8B-B14F-4D97-AF65-F5344CB8AC3E}">
        <p14:creationId xmlns:p14="http://schemas.microsoft.com/office/powerpoint/2010/main" val="1561799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pPr/>
              <a:t>3</a:t>
            </a:fld>
            <a:endParaRPr lang="en-US" dirty="0"/>
          </a:p>
        </p:txBody>
      </p:sp>
    </p:spTree>
    <p:extLst>
      <p:ext uri="{BB962C8B-B14F-4D97-AF65-F5344CB8AC3E}">
        <p14:creationId xmlns:p14="http://schemas.microsoft.com/office/powerpoint/2010/main" val="546687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401869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928649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118931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pPr/>
              <a:t>7</a:t>
            </a:fld>
            <a:endParaRPr lang="en-US"/>
          </a:p>
        </p:txBody>
      </p:sp>
    </p:spTree>
    <p:extLst>
      <p:ext uri="{BB962C8B-B14F-4D97-AF65-F5344CB8AC3E}">
        <p14:creationId xmlns:p14="http://schemas.microsoft.com/office/powerpoint/2010/main" val="546687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pPr/>
              <a:t>8</a:t>
            </a:fld>
            <a:endParaRPr lang="en-US"/>
          </a:p>
        </p:txBody>
      </p:sp>
    </p:spTree>
    <p:extLst>
      <p:ext uri="{BB962C8B-B14F-4D97-AF65-F5344CB8AC3E}">
        <p14:creationId xmlns:p14="http://schemas.microsoft.com/office/powerpoint/2010/main" val="2296780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69FE27A-A823-43B6-AF27-F900CDA361FB}" type="slidenum">
              <a:rPr lang="en-US" smtClean="0"/>
              <a:pPr/>
              <a:t>9</a:t>
            </a:fld>
            <a:endParaRPr lang="en-US"/>
          </a:p>
        </p:txBody>
      </p:sp>
    </p:spTree>
    <p:extLst>
      <p:ext uri="{BB962C8B-B14F-4D97-AF65-F5344CB8AC3E}">
        <p14:creationId xmlns:p14="http://schemas.microsoft.com/office/powerpoint/2010/main" val="179295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11/30/2022 </a:t>
            </a:r>
          </a:p>
        </p:txBody>
      </p:sp>
      <p:sp>
        <p:nvSpPr>
          <p:cNvPr id="5" name="Footer Placeholder 4"/>
          <p:cNvSpPr>
            <a:spLocks noGrp="1"/>
          </p:cNvSpPr>
          <p:nvPr>
            <p:ph type="ftr" sz="quarter" idx="11"/>
          </p:nvPr>
        </p:nvSpPr>
        <p:spPr/>
        <p:txBody>
          <a:bodyPr/>
          <a:lstStyle/>
          <a:p>
            <a:r>
              <a:rPr lang="en-US"/>
              <a:t>Synopsis Proposal Presentation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97573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11/30/2022 </a:t>
            </a:r>
          </a:p>
        </p:txBody>
      </p:sp>
      <p:sp>
        <p:nvSpPr>
          <p:cNvPr id="5" name="Footer Placeholder 4"/>
          <p:cNvSpPr>
            <a:spLocks noGrp="1"/>
          </p:cNvSpPr>
          <p:nvPr>
            <p:ph type="ftr" sz="quarter" idx="11"/>
          </p:nvPr>
        </p:nvSpPr>
        <p:spPr/>
        <p:txBody>
          <a:bodyPr/>
          <a:lstStyle/>
          <a:p>
            <a:r>
              <a:rPr lang="en-US"/>
              <a:t>Synopsis Proposal Presentation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1985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11/30/2022 </a:t>
            </a:r>
          </a:p>
        </p:txBody>
      </p:sp>
      <p:sp>
        <p:nvSpPr>
          <p:cNvPr id="5" name="Footer Placeholder 4"/>
          <p:cNvSpPr>
            <a:spLocks noGrp="1"/>
          </p:cNvSpPr>
          <p:nvPr>
            <p:ph type="ftr" sz="quarter" idx="11"/>
          </p:nvPr>
        </p:nvSpPr>
        <p:spPr/>
        <p:txBody>
          <a:bodyPr/>
          <a:lstStyle/>
          <a:p>
            <a:r>
              <a:rPr lang="en-US"/>
              <a:t>Synopsis Proposal Presentation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587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11/30/2022 </a:t>
            </a:r>
          </a:p>
        </p:txBody>
      </p:sp>
      <p:sp>
        <p:nvSpPr>
          <p:cNvPr id="6" name="Footer Placeholder 5"/>
          <p:cNvSpPr>
            <a:spLocks noGrp="1"/>
          </p:cNvSpPr>
          <p:nvPr>
            <p:ph type="ftr" sz="quarter" idx="11"/>
          </p:nvPr>
        </p:nvSpPr>
        <p:spPr/>
        <p:txBody>
          <a:bodyPr/>
          <a:lstStyle/>
          <a:p>
            <a:r>
              <a:rPr lang="en-US"/>
              <a:t>Synopsis Proposal Presentation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63249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11/30/2022 </a:t>
            </a:r>
          </a:p>
        </p:txBody>
      </p:sp>
      <p:sp>
        <p:nvSpPr>
          <p:cNvPr id="8" name="Footer Placeholder 7"/>
          <p:cNvSpPr>
            <a:spLocks noGrp="1"/>
          </p:cNvSpPr>
          <p:nvPr>
            <p:ph type="ftr" sz="quarter" idx="11"/>
          </p:nvPr>
        </p:nvSpPr>
        <p:spPr/>
        <p:txBody>
          <a:bodyPr/>
          <a:lstStyle/>
          <a:p>
            <a:r>
              <a:rPr lang="en-US"/>
              <a:t>Synopsis Proposal Presentation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39774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11/30/2022 </a:t>
            </a:r>
          </a:p>
        </p:txBody>
      </p:sp>
      <p:sp>
        <p:nvSpPr>
          <p:cNvPr id="4" name="Footer Placeholder 3"/>
          <p:cNvSpPr>
            <a:spLocks noGrp="1"/>
          </p:cNvSpPr>
          <p:nvPr>
            <p:ph type="ftr" sz="quarter" idx="11"/>
          </p:nvPr>
        </p:nvSpPr>
        <p:spPr/>
        <p:txBody>
          <a:bodyPr/>
          <a:lstStyle/>
          <a:p>
            <a:r>
              <a:rPr lang="en-US"/>
              <a:t>Synopsis Proposal Presentation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4536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11/30/2022 </a:t>
            </a:r>
          </a:p>
        </p:txBody>
      </p:sp>
      <p:sp>
        <p:nvSpPr>
          <p:cNvPr id="3" name="Footer Placeholder 2"/>
          <p:cNvSpPr>
            <a:spLocks noGrp="1"/>
          </p:cNvSpPr>
          <p:nvPr>
            <p:ph type="ftr" sz="quarter" idx="11"/>
          </p:nvPr>
        </p:nvSpPr>
        <p:spPr/>
        <p:txBody>
          <a:bodyPr/>
          <a:lstStyle/>
          <a:p>
            <a:r>
              <a:rPr lang="en-US"/>
              <a:t>Synopsis Proposal Presentation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5736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11/30/2022 </a:t>
            </a:r>
          </a:p>
        </p:txBody>
      </p:sp>
      <p:sp>
        <p:nvSpPr>
          <p:cNvPr id="6" name="Footer Placeholder 5"/>
          <p:cNvSpPr>
            <a:spLocks noGrp="1"/>
          </p:cNvSpPr>
          <p:nvPr>
            <p:ph type="ftr" sz="quarter" idx="11"/>
          </p:nvPr>
        </p:nvSpPr>
        <p:spPr/>
        <p:txBody>
          <a:bodyPr/>
          <a:lstStyle/>
          <a:p>
            <a:r>
              <a:rPr lang="en-US"/>
              <a:t>Synopsis Proposal Presentation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563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11/30/2022 </a:t>
            </a:r>
          </a:p>
        </p:txBody>
      </p:sp>
      <p:sp>
        <p:nvSpPr>
          <p:cNvPr id="6" name="Footer Placeholder 5"/>
          <p:cNvSpPr>
            <a:spLocks noGrp="1"/>
          </p:cNvSpPr>
          <p:nvPr>
            <p:ph type="ftr" sz="quarter" idx="11"/>
          </p:nvPr>
        </p:nvSpPr>
        <p:spPr/>
        <p:txBody>
          <a:bodyPr/>
          <a:lstStyle/>
          <a:p>
            <a:r>
              <a:rPr lang="en-US"/>
              <a:t>Synopsis Proposal Presentation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672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11/30/2022 </a:t>
            </a:r>
          </a:p>
        </p:txBody>
      </p:sp>
      <p:sp>
        <p:nvSpPr>
          <p:cNvPr id="5" name="Footer Placeholder 4"/>
          <p:cNvSpPr>
            <a:spLocks noGrp="1"/>
          </p:cNvSpPr>
          <p:nvPr>
            <p:ph type="ftr" sz="quarter" idx="11"/>
          </p:nvPr>
        </p:nvSpPr>
        <p:spPr/>
        <p:txBody>
          <a:bodyPr/>
          <a:lstStyle/>
          <a:p>
            <a:r>
              <a:rPr lang="en-US"/>
              <a:t>Synopsis Proposal Presentation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680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11/30/2022 </a:t>
            </a:r>
          </a:p>
        </p:txBody>
      </p:sp>
      <p:sp>
        <p:nvSpPr>
          <p:cNvPr id="5" name="Footer Placeholder 4"/>
          <p:cNvSpPr>
            <a:spLocks noGrp="1"/>
          </p:cNvSpPr>
          <p:nvPr>
            <p:ph type="ftr" sz="quarter" idx="11"/>
          </p:nvPr>
        </p:nvSpPr>
        <p:spPr/>
        <p:txBody>
          <a:bodyPr/>
          <a:lstStyle/>
          <a:p>
            <a:r>
              <a:rPr lang="en-US"/>
              <a:t>Synopsis Proposal Presentation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7252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11/30/2022 </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Synopsis Proposal Presentation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982113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85800" y="533400"/>
            <a:ext cx="1143000" cy="1143000"/>
          </a:xfrm>
          <a:prstGeom prst="rect">
            <a:avLst/>
          </a:prstGeom>
        </p:spPr>
      </p:pic>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Bismillah1.jpg"/>
          <p:cNvPicPr>
            <a:picLocks noChangeAspect="1"/>
          </p:cNvPicPr>
          <p:nvPr/>
        </p:nvPicPr>
        <p:blipFill>
          <a:blip r:embed="rId4" cstate="print"/>
          <a:stretch>
            <a:fillRect/>
          </a:stretch>
        </p:blipFill>
        <p:spPr>
          <a:xfrm>
            <a:off x="457200" y="1929505"/>
            <a:ext cx="8319448" cy="2109095"/>
          </a:xfrm>
          <a:prstGeom prst="rect">
            <a:avLst/>
          </a:prstGeom>
        </p:spPr>
      </p:pic>
      <p:sp>
        <p:nvSpPr>
          <p:cNvPr id="2" name="Date Placeholder 1"/>
          <p:cNvSpPr>
            <a:spLocks noGrp="1"/>
          </p:cNvSpPr>
          <p:nvPr>
            <p:ph type="dt" sz="half" idx="10"/>
          </p:nvPr>
        </p:nvSpPr>
        <p:spPr/>
        <p:txBody>
          <a:bodyPr/>
          <a:lstStyle/>
          <a:p>
            <a:r>
              <a:rPr lang="en-US" dirty="0" smtClean="0"/>
              <a:t>02/01/2025</a:t>
            </a:r>
            <a:endParaRPr lang="en-US" dirty="0"/>
          </a:p>
        </p:txBody>
      </p:sp>
      <p:sp>
        <p:nvSpPr>
          <p:cNvPr id="11" name="Slide Number Placeholder 10"/>
          <p:cNvSpPr>
            <a:spLocks noGrp="1"/>
          </p:cNvSpPr>
          <p:nvPr>
            <p:ph type="sldNum" sz="quarter" idx="12"/>
          </p:nvPr>
        </p:nvSpPr>
        <p:spPr/>
        <p:txBody>
          <a:bodyPr/>
          <a:lstStyle/>
          <a:p>
            <a:fld id="{21BAB6EE-EAEA-4561-8880-8DF9D3AB286A}" type="slidenum">
              <a:rPr lang="en-US" smtClean="0"/>
              <a:pPr/>
              <a:t>1</a:t>
            </a:fld>
            <a:endParaRPr lang="en-US" dirty="0"/>
          </a:p>
        </p:txBody>
      </p:sp>
      <p:sp>
        <p:nvSpPr>
          <p:cNvPr id="4" name="TextBox 3">
            <a:extLst>
              <a:ext uri="{FF2B5EF4-FFF2-40B4-BE49-F238E27FC236}">
                <a16:creationId xmlns:a16="http://schemas.microsoft.com/office/drawing/2014/main" id="{49D9409D-F4DB-BCC8-02EC-14AA2C1328BF}"/>
              </a:ext>
            </a:extLst>
          </p:cNvPr>
          <p:cNvSpPr txBox="1"/>
          <p:nvPr/>
        </p:nvSpPr>
        <p:spPr>
          <a:xfrm>
            <a:off x="2100916" y="682580"/>
            <a:ext cx="5505610" cy="1323439"/>
          </a:xfrm>
          <a:prstGeom prst="rect">
            <a:avLst/>
          </a:prstGeom>
          <a:noFill/>
        </p:spPr>
        <p:txBody>
          <a:bodyPr wrap="none" rtlCol="0">
            <a:spAutoFit/>
          </a:bodyPr>
          <a:lstStyle/>
          <a:p>
            <a:r>
              <a:rPr lang="en-US" sz="2800" b="1" dirty="0">
                <a:solidFill>
                  <a:schemeClr val="tx1"/>
                </a:solidFill>
                <a:latin typeface="Times New Roman" pitchFamily="18" charset="0"/>
                <a:cs typeface="Times New Roman" pitchFamily="18" charset="0"/>
              </a:rPr>
              <a:t>COMSATS University Islamabad, </a:t>
            </a:r>
          </a:p>
          <a:p>
            <a:r>
              <a:rPr lang="en-US" sz="2800" b="1" dirty="0" err="1">
                <a:solidFill>
                  <a:schemeClr val="tx1"/>
                </a:solidFill>
                <a:latin typeface="Times New Roman" pitchFamily="18" charset="0"/>
                <a:cs typeface="Times New Roman" pitchFamily="18" charset="0"/>
              </a:rPr>
              <a:t>Attock</a:t>
            </a:r>
            <a:r>
              <a:rPr lang="en-US" sz="2800" b="1" dirty="0">
                <a:solidFill>
                  <a:schemeClr val="tx1"/>
                </a:solidFill>
                <a:latin typeface="Times New Roman" pitchFamily="18" charset="0"/>
                <a:cs typeface="Times New Roman" pitchFamily="18" charset="0"/>
              </a:rPr>
              <a:t> Campus</a:t>
            </a:r>
          </a:p>
          <a:p>
            <a:endParaRPr lang="en-US" sz="2400" b="1" dirty="0"/>
          </a:p>
        </p:txBody>
      </p:sp>
    </p:spTree>
    <p:extLst>
      <p:ext uri="{BB962C8B-B14F-4D97-AF65-F5344CB8AC3E}">
        <p14:creationId xmlns:p14="http://schemas.microsoft.com/office/powerpoint/2010/main" val="10310902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16650">
        <p15:prstTrans prst="curtains"/>
      </p:transition>
    </mc:Choice>
    <mc:Fallback xmlns="">
      <p:transition spd="slow" advTm="1665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806532" y="896610"/>
            <a:ext cx="1302336" cy="1298448"/>
          </a:xfrm>
          <a:prstGeom prst="rect">
            <a:avLst/>
          </a:prstGeom>
        </p:spPr>
      </p:pic>
      <p:sp>
        <p:nvSpPr>
          <p:cNvPr id="2" name="Title 1"/>
          <p:cNvSpPr>
            <a:spLocks noGrp="1"/>
          </p:cNvSpPr>
          <p:nvPr>
            <p:ph type="title"/>
          </p:nvPr>
        </p:nvSpPr>
        <p:spPr>
          <a:xfrm>
            <a:off x="330958" y="-96699"/>
            <a:ext cx="8508242" cy="1143000"/>
          </a:xfrm>
        </p:spPr>
        <p:txBody>
          <a:bodyPr>
            <a:noAutofit/>
          </a:bodyPr>
          <a:lstStyle/>
          <a:p>
            <a:r>
              <a:rPr lang="en-US" sz="2000" b="1" dirty="0">
                <a:latin typeface="Times New Roman" panose="02020603050405020304" pitchFamily="18" charset="0"/>
                <a:cs typeface="Times New Roman" panose="02020603050405020304" pitchFamily="18" charset="0"/>
              </a:rPr>
              <a:t>HEART </a:t>
            </a:r>
            <a:r>
              <a:rPr lang="en-US" sz="2000" b="1" dirty="0" smtClean="0">
                <a:latin typeface="Times New Roman" panose="02020603050405020304" pitchFamily="18" charset="0"/>
                <a:cs typeface="Times New Roman" panose="02020603050405020304" pitchFamily="18" charset="0"/>
              </a:rPr>
              <a:t>DISEASE </a:t>
            </a:r>
            <a:r>
              <a:rPr lang="en-US" sz="2000" b="1" dirty="0">
                <a:latin typeface="Times New Roman" panose="02020603050405020304" pitchFamily="18" charset="0"/>
                <a:cs typeface="Times New Roman" panose="02020603050405020304" pitchFamily="18" charset="0"/>
              </a:rPr>
              <a:t>PREDICTION USING MACHINE LEARNING</a:t>
            </a:r>
          </a:p>
        </p:txBody>
      </p:sp>
      <p:sp>
        <p:nvSpPr>
          <p:cNvPr id="6" name="Date Placeholder 5"/>
          <p:cNvSpPr>
            <a:spLocks noGrp="1"/>
          </p:cNvSpPr>
          <p:nvPr>
            <p:ph type="dt" sz="half" idx="10"/>
          </p:nvPr>
        </p:nvSpPr>
        <p:spPr/>
        <p:txBody>
          <a:bodyPr/>
          <a:lstStyle/>
          <a:p>
            <a:r>
              <a:rPr lang="en-US" dirty="0"/>
              <a:t>02/01/2025</a:t>
            </a:r>
          </a:p>
        </p:txBody>
      </p:sp>
      <p:sp>
        <p:nvSpPr>
          <p:cNvPr id="10" name="Slide Number Placeholder 9"/>
          <p:cNvSpPr>
            <a:spLocks noGrp="1"/>
          </p:cNvSpPr>
          <p:nvPr>
            <p:ph type="sldNum" sz="quarter" idx="12"/>
          </p:nvPr>
        </p:nvSpPr>
        <p:spPr/>
        <p:txBody>
          <a:bodyPr/>
          <a:lstStyle/>
          <a:p>
            <a:fld id="{21BAB6EE-EAEA-4561-8880-8DF9D3AB286A}" type="slidenum">
              <a:rPr lang="en-US" smtClean="0"/>
              <a:pPr/>
              <a:t>2</a:t>
            </a:fld>
            <a:endParaRPr lang="en-US" dirty="0"/>
          </a:p>
        </p:txBody>
      </p:sp>
      <p:sp>
        <p:nvSpPr>
          <p:cNvPr id="5" name="Rectangle 4"/>
          <p:cNvSpPr/>
          <p:nvPr/>
        </p:nvSpPr>
        <p:spPr>
          <a:xfrm>
            <a:off x="64258" y="1676400"/>
            <a:ext cx="8763000" cy="4708981"/>
          </a:xfrm>
          <a:prstGeom prst="rect">
            <a:avLst/>
          </a:prstGeom>
        </p:spPr>
        <p:txBody>
          <a:bodyPr wrap="square">
            <a:spAutoFit/>
          </a:bodyPr>
          <a:lstStyle/>
          <a:p>
            <a:pPr algn="ctr"/>
            <a:r>
              <a:rPr lang="en-US" sz="2000" b="1" u="sng" dirty="0">
                <a:solidFill>
                  <a:schemeClr val="tx1"/>
                </a:solidFill>
                <a:latin typeface="Times New Roman" pitchFamily="18" charset="0"/>
                <a:cs typeface="Times New Roman" pitchFamily="18" charset="0"/>
              </a:rPr>
              <a:t/>
            </a:r>
            <a:br>
              <a:rPr lang="en-US" sz="2000" b="1" u="sng" dirty="0">
                <a:solidFill>
                  <a:schemeClr val="tx1"/>
                </a:solidFill>
                <a:latin typeface="Times New Roman" pitchFamily="18" charset="0"/>
                <a:cs typeface="Times New Roman" pitchFamily="18" charset="0"/>
              </a:rPr>
            </a:br>
            <a:endParaRPr lang="en-US" sz="2000" b="1" u="sng" dirty="0">
              <a:solidFill>
                <a:schemeClr val="tx1"/>
              </a:solidFill>
              <a:latin typeface="Times New Roman" pitchFamily="18" charset="0"/>
              <a:cs typeface="Times New Roman" pitchFamily="18" charset="0"/>
            </a:endParaRPr>
          </a:p>
          <a:p>
            <a:pPr algn="ctr"/>
            <a:r>
              <a:rPr lang="en-US" sz="2000" b="1" u="sng" dirty="0">
                <a:solidFill>
                  <a:schemeClr val="tx1"/>
                </a:solidFill>
                <a:latin typeface="Times New Roman" pitchFamily="18" charset="0"/>
                <a:cs typeface="Times New Roman" pitchFamily="18" charset="0"/>
              </a:rPr>
              <a:t>Supervised by</a:t>
            </a:r>
            <a:r>
              <a:rPr lang="en-US" sz="2000" b="1" u="sng" dirty="0">
                <a:latin typeface="Times New Roman" pitchFamily="18" charset="0"/>
                <a:cs typeface="Times New Roman" pitchFamily="18" charset="0"/>
              </a:rPr>
              <a:t>:</a:t>
            </a:r>
            <a:endParaRPr lang="en-US" sz="2000" b="1" u="sng" dirty="0">
              <a:solidFill>
                <a:schemeClr val="tx1"/>
              </a:solidFill>
              <a:latin typeface="Times New Roman" pitchFamily="18" charset="0"/>
              <a:cs typeface="Times New Roman" pitchFamily="18" charset="0"/>
            </a:endParaRPr>
          </a:p>
          <a:p>
            <a:pPr algn="ctr"/>
            <a:r>
              <a:rPr lang="en-US" sz="2000" dirty="0" smtClean="0">
                <a:latin typeface="Times New Roman" pitchFamily="18" charset="0"/>
                <a:cs typeface="Times New Roman" pitchFamily="18" charset="0"/>
              </a:rPr>
              <a:t>Miss. Farrah Khan</a:t>
            </a:r>
            <a:endParaRPr lang="en-US" sz="2000" dirty="0">
              <a:latin typeface="Times New Roman" pitchFamily="18" charset="0"/>
              <a:cs typeface="Times New Roman" pitchFamily="18" charset="0"/>
            </a:endParaRPr>
          </a:p>
          <a:p>
            <a:pPr algn="ctr"/>
            <a:endParaRPr lang="en-US" sz="2000" u="sng" dirty="0">
              <a:latin typeface="Times New Roman" pitchFamily="18" charset="0"/>
              <a:cs typeface="Times New Roman" pitchFamily="18" charset="0"/>
            </a:endParaRPr>
          </a:p>
          <a:p>
            <a:pPr algn="ctr"/>
            <a:r>
              <a:rPr lang="en-US" sz="2000" b="1" u="sng" dirty="0">
                <a:latin typeface="Times New Roman" pitchFamily="18" charset="0"/>
                <a:cs typeface="Times New Roman" pitchFamily="18" charset="0"/>
              </a:rPr>
              <a:t>Presented By</a:t>
            </a:r>
            <a:r>
              <a:rPr lang="en-US" sz="2000" b="1" u="sng" dirty="0">
                <a:solidFill>
                  <a:schemeClr val="tx1"/>
                </a:solidFill>
                <a:latin typeface="Times New Roman" pitchFamily="18" charset="0"/>
                <a:cs typeface="Times New Roman" pitchFamily="18" charset="0"/>
              </a:rPr>
              <a:t>:</a:t>
            </a:r>
          </a:p>
          <a:p>
            <a:pPr algn="ctr"/>
            <a:r>
              <a:rPr lang="en-US" dirty="0" smtClean="0">
                <a:latin typeface="Times New Roman" panose="02020603050405020304" pitchFamily="18" charset="0"/>
                <a:cs typeface="Times New Roman" panose="02020603050405020304" pitchFamily="18" charset="0"/>
              </a:rPr>
              <a:t>Syed </a:t>
            </a:r>
            <a:r>
              <a:rPr lang="en-US" dirty="0" err="1" smtClean="0">
                <a:latin typeface="Times New Roman" panose="02020603050405020304" pitchFamily="18" charset="0"/>
                <a:cs typeface="Times New Roman" panose="02020603050405020304" pitchFamily="18" charset="0"/>
              </a:rPr>
              <a:t>Yaish</a:t>
            </a:r>
            <a:r>
              <a:rPr lang="en-US" dirty="0" smtClean="0">
                <a:latin typeface="Times New Roman" panose="02020603050405020304" pitchFamily="18" charset="0"/>
                <a:cs typeface="Times New Roman" panose="02020603050405020304" pitchFamily="18" charset="0"/>
              </a:rPr>
              <a:t> Ali</a:t>
            </a:r>
            <a:endParaRPr lang="en-US"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Farhan Khan</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FA22-BAI-043</a:t>
            </a:r>
            <a:endParaRPr lang="en-US"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FA22-BAI-003</a:t>
            </a:r>
            <a:endParaRPr lang="en-US" sz="2000" dirty="0">
              <a:latin typeface="Times New Roman" pitchFamily="18" charset="0"/>
              <a:cs typeface="Times New Roman" pitchFamily="18" charset="0"/>
            </a:endParaRPr>
          </a:p>
          <a:p>
            <a:pPr algn="ctr">
              <a:lnSpc>
                <a:spcPct val="150000"/>
              </a:lnSpc>
            </a:pPr>
            <a:r>
              <a:rPr lang="en-US" sz="2000" dirty="0">
                <a:solidFill>
                  <a:schemeClr val="tx1"/>
                </a:solidFill>
                <a:latin typeface="Times New Roman" pitchFamily="18" charset="0"/>
                <a:cs typeface="Times New Roman" pitchFamily="18" charset="0"/>
              </a:rPr>
              <a:t>Presented on </a:t>
            </a:r>
            <a:r>
              <a:rPr lang="en-US" sz="2000" dirty="0" smtClean="0">
                <a:solidFill>
                  <a:schemeClr val="tx1"/>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13</a:t>
            </a:r>
            <a:r>
              <a:rPr lang="en-US" sz="2000" baseline="30000" dirty="0" smtClean="0">
                <a:latin typeface="Times New Roman" pitchFamily="18" charset="0"/>
                <a:cs typeface="Times New Roman" pitchFamily="18" charset="0"/>
              </a:rPr>
              <a:t>th</a:t>
            </a:r>
            <a:r>
              <a:rPr lang="en-US" sz="2000" dirty="0" smtClean="0">
                <a:latin typeface="Times New Roman" pitchFamily="18" charset="0"/>
                <a:cs typeface="Times New Roman" pitchFamily="18" charset="0"/>
              </a:rPr>
              <a:t> June</a:t>
            </a:r>
            <a:r>
              <a:rPr lang="en-US" sz="200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2025</a:t>
            </a:r>
          </a:p>
          <a:p>
            <a:pPr algn="ctr">
              <a:lnSpc>
                <a:spcPct val="150000"/>
              </a:lnSpc>
            </a:pPr>
            <a:r>
              <a:rPr lang="en-US" sz="2000" dirty="0" smtClean="0">
                <a:solidFill>
                  <a:schemeClr val="tx1"/>
                </a:solidFill>
                <a:latin typeface="Times New Roman" pitchFamily="18" charset="0"/>
                <a:cs typeface="Times New Roman" pitchFamily="18" charset="0"/>
              </a:rPr>
              <a:t>Department </a:t>
            </a:r>
            <a:r>
              <a:rPr lang="en-US" sz="2000" dirty="0">
                <a:solidFill>
                  <a:schemeClr val="tx1"/>
                </a:solidFill>
                <a:latin typeface="Times New Roman" pitchFamily="18" charset="0"/>
                <a:cs typeface="Times New Roman" pitchFamily="18" charset="0"/>
              </a:rPr>
              <a:t>of </a:t>
            </a:r>
            <a:r>
              <a:rPr lang="en-US" sz="2000" dirty="0">
                <a:latin typeface="Times New Roman" pitchFamily="18" charset="0"/>
                <a:cs typeface="Times New Roman" pitchFamily="18" charset="0"/>
              </a:rPr>
              <a:t>Computer Science</a:t>
            </a:r>
            <a:r>
              <a:rPr lang="en-US" sz="2000" dirty="0">
                <a:solidFill>
                  <a:schemeClr val="tx1"/>
                </a:solidFill>
                <a:latin typeface="Times New Roman" pitchFamily="18" charset="0"/>
                <a:cs typeface="Times New Roman" pitchFamily="18" charset="0"/>
              </a:rPr>
              <a:t> </a:t>
            </a:r>
          </a:p>
          <a:p>
            <a:pPr algn="ctr">
              <a:lnSpc>
                <a:spcPct val="150000"/>
              </a:lnSpc>
            </a:pPr>
            <a:r>
              <a:rPr lang="en-US" sz="2000" b="1" dirty="0">
                <a:solidFill>
                  <a:schemeClr val="tx1"/>
                </a:solidFill>
                <a:latin typeface="Times New Roman" pitchFamily="18" charset="0"/>
                <a:cs typeface="Times New Roman" pitchFamily="18" charset="0"/>
              </a:rPr>
              <a:t>COMSATS University Islamabad, Attock Campus</a:t>
            </a:r>
          </a:p>
        </p:txBody>
      </p:sp>
      <p:sp>
        <p:nvSpPr>
          <p:cNvPr id="9" name="Rectangle 8"/>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14744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192">
        <p15:prstTrans prst="pageCurlDouble"/>
      </p:transition>
    </mc:Choice>
    <mc:Fallback xmlns="">
      <p:transition spd="slow" advTm="7192">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2" name="Title 1"/>
          <p:cNvSpPr>
            <a:spLocks noGrp="1"/>
          </p:cNvSpPr>
          <p:nvPr>
            <p:ph type="title"/>
          </p:nvPr>
        </p:nvSpPr>
        <p:spPr/>
        <p:txBody>
          <a:bodyPr>
            <a:normAutofit/>
          </a:bodyPr>
          <a:lstStyle/>
          <a:p>
            <a:r>
              <a:rPr lang="en-US" b="1" i="1"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457200" y="1600200"/>
            <a:ext cx="7848600" cy="4525963"/>
          </a:xfrm>
          <a:prstGeom prst="rect">
            <a:avLst/>
          </a:prstGeom>
        </p:spPr>
        <p:txBody>
          <a:bodyPr>
            <a:normAutofit/>
          </a:bodyPr>
          <a:lstStyle/>
          <a:p>
            <a:r>
              <a:rPr lang="en-US" sz="2400" dirty="0" smtClean="0">
                <a:latin typeface="Times New Roman" panose="02020603050405020304" pitchFamily="18" charset="0"/>
                <a:cs typeface="Times New Roman" panose="02020603050405020304" pitchFamily="18" charset="0"/>
              </a:rPr>
              <a:t>Abstract</a:t>
            </a:r>
          </a:p>
          <a:p>
            <a:r>
              <a:rPr lang="en-US" sz="2400" dirty="0" smtClean="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Literature Review</a:t>
            </a:r>
          </a:p>
          <a:p>
            <a:r>
              <a:rPr lang="en-US" sz="2400" dirty="0" smtClean="0">
                <a:latin typeface="Times New Roman" panose="02020603050405020304" pitchFamily="18" charset="0"/>
                <a:cs typeface="Times New Roman" panose="02020603050405020304" pitchFamily="18" charset="0"/>
              </a:rPr>
              <a:t>Methodology</a:t>
            </a:r>
          </a:p>
          <a:p>
            <a:r>
              <a:rPr lang="en-US" sz="2400" dirty="0" smtClean="0">
                <a:latin typeface="Times New Roman" panose="02020603050405020304" pitchFamily="18" charset="0"/>
                <a:cs typeface="Times New Roman" panose="02020603050405020304" pitchFamily="18" charset="0"/>
              </a:rPr>
              <a:t>Results </a:t>
            </a:r>
            <a:endParaRPr lang="en-US" sz="12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Conclusion</a:t>
            </a:r>
            <a:endParaRPr lang="en-US" sz="1200" dirty="0" smtClean="0">
              <a:solidFill>
                <a:srgbClr val="FF0000"/>
              </a:solidFill>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a:xfrm>
            <a:off x="457200" y="6421082"/>
            <a:ext cx="2133600" cy="365125"/>
          </a:xfrm>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pPr/>
              <a:t>3</a:t>
            </a:fld>
            <a:endParaRPr lang="en-US" dirty="0"/>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381000" y="838200"/>
            <a:ext cx="8915400" cy="769441"/>
          </a:xfrm>
          <a:prstGeom prst="rect">
            <a:avLst/>
          </a:prstGeom>
          <a:noFill/>
        </p:spPr>
        <p:txBody>
          <a:bodyPr wrap="square" rtlCol="0">
            <a:spAutoFit/>
          </a:bodyPr>
          <a:lstStyle/>
          <a:p>
            <a:endParaRPr lang="en-US" sz="4400" u="sng" dirty="0">
              <a:solidFill>
                <a:srgbClr val="1F497D">
                  <a:lumMod val="75000"/>
                </a:srgbClr>
              </a:solidFill>
            </a:endParaRPr>
          </a:p>
        </p:txBody>
      </p:sp>
      <p:sp>
        <p:nvSpPr>
          <p:cNvPr id="12" name="TextBox 11"/>
          <p:cNvSpPr txBox="1"/>
          <p:nvPr/>
        </p:nvSpPr>
        <p:spPr>
          <a:xfrm>
            <a:off x="228600" y="685800"/>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
        <p:nvSpPr>
          <p:cNvPr id="13" name="TextBox 12"/>
          <p:cNvSpPr txBox="1"/>
          <p:nvPr/>
        </p:nvSpPr>
        <p:spPr>
          <a:xfrm>
            <a:off x="228600" y="5631359"/>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Tree>
    <p:extLst>
      <p:ext uri="{BB962C8B-B14F-4D97-AF65-F5344CB8AC3E}">
        <p14:creationId xmlns:p14="http://schemas.microsoft.com/office/powerpoint/2010/main" val="1101806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5420">
        <p15:prstTrans prst="pageCurlDouble"/>
      </p:transition>
    </mc:Choice>
    <mc:Fallback xmlns="">
      <p:transition spd="slow" advTm="542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342900" y="499020"/>
            <a:ext cx="8229600" cy="1143000"/>
          </a:xfrm>
        </p:spPr>
        <p:txBody>
          <a:bodyPr>
            <a:noAutofit/>
          </a:bodyPr>
          <a:lstStyle/>
          <a:p>
            <a:r>
              <a:rPr lang="en-US" b="1" i="1" dirty="0" smtClean="0">
                <a:latin typeface="Times New Roman" panose="02020603050405020304" pitchFamily="18" charset="0"/>
                <a:cs typeface="Times New Roman" panose="02020603050405020304" pitchFamily="18" charset="0"/>
              </a:rPr>
              <a:t>Abstract</a:t>
            </a:r>
            <a:r>
              <a:rPr lang="en-US" b="1" i="1" dirty="0">
                <a:latin typeface="Times New Roman" panose="02020603050405020304" pitchFamily="18" charset="0"/>
                <a:cs typeface="Times New Roman" panose="02020603050405020304" pitchFamily="18" charset="0"/>
              </a:rPr>
              <a:t/>
            </a:r>
            <a:br>
              <a:rPr lang="en-US" b="1" i="1" dirty="0">
                <a:latin typeface="Times New Roman" panose="02020603050405020304" pitchFamily="18" charset="0"/>
                <a:cs typeface="Times New Roman" panose="02020603050405020304" pitchFamily="18" charset="0"/>
              </a:rPr>
            </a:b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7848600" cy="4525963"/>
          </a:xfrm>
          <a:prstGeom prst="rect">
            <a:avLst/>
          </a:prstGeom>
        </p:spPr>
        <p:txBody>
          <a:bodyPr>
            <a:normAutofit/>
          </a:bodyPr>
          <a:lstStyle/>
          <a:p>
            <a:pPr algn="just"/>
            <a:r>
              <a:rPr lang="en-US" sz="1600" dirty="0">
                <a:latin typeface="Times New Roman" panose="02020603050405020304" pitchFamily="18" charset="0"/>
                <a:cs typeface="Times New Roman" panose="02020603050405020304" pitchFamily="18" charset="0"/>
              </a:rPr>
              <a:t>This research delves into the pivotal role of machine learning in predicting potential heart conditions in humans, emphasizing its significance in healthcare. Evaluating the </a:t>
            </a:r>
            <a:r>
              <a:rPr lang="en-US" sz="1600" dirty="0" smtClean="0">
                <a:latin typeface="Times New Roman" panose="02020603050405020304" pitchFamily="18" charset="0"/>
                <a:cs typeface="Times New Roman" panose="02020603050405020304" pitchFamily="18" charset="0"/>
              </a:rPr>
              <a:t>performance </a:t>
            </a:r>
            <a:r>
              <a:rPr lang="en-US" sz="1600" dirty="0">
                <a:latin typeface="Times New Roman" panose="02020603050405020304" pitchFamily="18" charset="0"/>
                <a:cs typeface="Times New Roman" panose="02020603050405020304" pitchFamily="18" charset="0"/>
              </a:rPr>
              <a:t>of diverse classifiers, including Decision Tree, Naive Bayes, Logistic Regression, SVM, and Random Forest, the study aims to provide healthcare professionals with advanced insights for tailored patient diagnosis and treatment. Additionally, the proposal of an ensemble classifier, amalgamating the strengths of both strong and weak classifiers, offers a promising avenue for improved predictive accuracy by leveraging a substantial number of training and validation samples. By addressing locomotor abnormalities and heart ailments, this research contributes to the advancement of machine learning applications in healthcare, fostering more precise and personalized medical interventions.</a:t>
            </a:r>
          </a:p>
        </p:txBody>
      </p:sp>
      <p:sp>
        <p:nvSpPr>
          <p:cNvPr id="11" name="Date Placeholder 10"/>
          <p:cNvSpPr>
            <a:spLocks noGrp="1"/>
          </p:cNvSpPr>
          <p:nvPr>
            <p:ph type="dt" sz="half" idx="10"/>
          </p:nvPr>
        </p:nvSpPr>
        <p:spPr>
          <a:xfrm>
            <a:off x="468573" y="6405871"/>
            <a:ext cx="2133600" cy="365125"/>
          </a:xfrm>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solidFill>
                  <a:prstClr val="black">
                    <a:tint val="75000"/>
                  </a:prstClr>
                </a:solidFill>
              </a:rPr>
              <a:pPr/>
              <a:t>4</a:t>
            </a:fld>
            <a:endParaRPr lang="en-US" dirty="0">
              <a:solidFill>
                <a:prstClr val="black">
                  <a:tint val="75000"/>
                </a:prstClr>
              </a:solidFill>
            </a:endParaRPr>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0" name="TextBox 9"/>
          <p:cNvSpPr txBox="1"/>
          <p:nvPr/>
        </p:nvSpPr>
        <p:spPr>
          <a:xfrm>
            <a:off x="228600" y="5631359"/>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
        <p:nvSpPr>
          <p:cNvPr id="12" name="TextBox 11"/>
          <p:cNvSpPr txBox="1"/>
          <p:nvPr/>
        </p:nvSpPr>
        <p:spPr>
          <a:xfrm>
            <a:off x="228600" y="685800"/>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49167" r="5000"/>
          <a:stretch/>
        </p:blipFill>
        <p:spPr>
          <a:xfrm>
            <a:off x="6105099" y="4098405"/>
            <a:ext cx="2362200" cy="1995913"/>
          </a:xfrm>
          <a:prstGeom prst="rect">
            <a:avLst/>
          </a:prstGeom>
        </p:spPr>
      </p:pic>
    </p:spTree>
    <p:extLst>
      <p:ext uri="{BB962C8B-B14F-4D97-AF65-F5344CB8AC3E}">
        <p14:creationId xmlns:p14="http://schemas.microsoft.com/office/powerpoint/2010/main" val="22084022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468">
        <p15:prstTrans prst="pageCurlDouble"/>
      </p:transition>
    </mc:Choice>
    <mc:Fallback xmlns="">
      <p:transition spd="slow" advTm="4468">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342900" y="499020"/>
            <a:ext cx="8229600" cy="1143000"/>
          </a:xfrm>
        </p:spPr>
        <p:txBody>
          <a:bodyPr>
            <a:noAutofit/>
          </a:bodyPr>
          <a:lstStyle/>
          <a:p>
            <a:r>
              <a:rPr lang="en-US" b="1" i="1" dirty="0">
                <a:latin typeface="Times New Roman" panose="02020603050405020304" pitchFamily="18" charset="0"/>
                <a:cs typeface="Times New Roman" panose="02020603050405020304" pitchFamily="18" charset="0"/>
              </a:rPr>
              <a:t>Introduction</a:t>
            </a:r>
            <a:br>
              <a:rPr lang="en-US" b="1" i="1" dirty="0">
                <a:latin typeface="Times New Roman" panose="02020603050405020304" pitchFamily="18" charset="0"/>
                <a:cs typeface="Times New Roman" panose="02020603050405020304" pitchFamily="18" charset="0"/>
              </a:rPr>
            </a:b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26808"/>
            <a:ext cx="8521605" cy="4773293"/>
          </a:xfrm>
          <a:prstGeom prst="rect">
            <a:avLst/>
          </a:prstGeom>
        </p:spPr>
        <p:txBody>
          <a:bodyPr>
            <a:normAutofit fontScale="32500" lnSpcReduction="20000"/>
          </a:bodyPr>
          <a:lstStyle/>
          <a:p>
            <a:pPr marL="0" indent="0">
              <a:buNone/>
            </a:pPr>
            <a:endParaRPr lang="en-US" dirty="0"/>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The </a:t>
            </a:r>
            <a:r>
              <a:rPr lang="en-US" sz="4900" dirty="0">
                <a:latin typeface="Times New Roman" panose="02020603050405020304" pitchFamily="18" charset="0"/>
                <a:cs typeface="Times New Roman" panose="02020603050405020304" pitchFamily="18" charset="0"/>
              </a:rPr>
              <a:t>human heart, a life-sustaining maestro, faces a global surge in ailments driven by lifestyle changes, stress, and poor diets</a:t>
            </a:r>
            <a:r>
              <a:rPr lang="en-US" sz="4900" dirty="0" smtClean="0">
                <a:latin typeface="Times New Roman" panose="02020603050405020304" pitchFamily="18" charset="0"/>
                <a:cs typeface="Times New Roman" panose="02020603050405020304" pitchFamily="18" charset="0"/>
              </a:rPr>
              <a:t>. </a:t>
            </a:r>
            <a:endParaRPr lang="en-US" sz="4900" dirty="0">
              <a:latin typeface="Times New Roman" panose="02020603050405020304" pitchFamily="18" charset="0"/>
              <a:cs typeface="Times New Roman" panose="02020603050405020304" pitchFamily="18" charset="0"/>
            </a:endParaRP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According </a:t>
            </a:r>
            <a:r>
              <a:rPr lang="en-US" sz="4900" dirty="0" smtClean="0">
                <a:latin typeface="Times New Roman" panose="02020603050405020304" pitchFamily="18" charset="0"/>
                <a:cs typeface="Times New Roman" panose="02020603050405020304" pitchFamily="18" charset="0"/>
              </a:rPr>
              <a:t>to WHO rate in Pakistan 193 and ranked on 30 Disease (CHD) and death per 100000 people.</a:t>
            </a:r>
          </a:p>
          <a:p>
            <a:pPr marL="357188" lvl="1" algn="just">
              <a:lnSpc>
                <a:spcPct val="120000"/>
              </a:lnSpc>
              <a:buFont typeface="Arial" panose="020B0604020202020204" pitchFamily="34" charset="0"/>
              <a:buChar char="•"/>
            </a:pPr>
            <a:r>
              <a:rPr lang="en-US" sz="4900" dirty="0">
                <a:latin typeface="Times New Roman" panose="02020603050405020304" pitchFamily="18" charset="0"/>
                <a:cs typeface="Times New Roman" panose="02020603050405020304" pitchFamily="18" charset="0"/>
              </a:rPr>
              <a:t>According to the most recent WHO data on heart attack ratio in Pakistan, 240,720 people died from coronary heart disease in Pakistan in 2020</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Machine </a:t>
            </a:r>
            <a:r>
              <a:rPr lang="en-US" sz="4900" dirty="0">
                <a:latin typeface="Times New Roman" panose="02020603050405020304" pitchFamily="18" charset="0"/>
                <a:cs typeface="Times New Roman" panose="02020603050405020304" pitchFamily="18" charset="0"/>
              </a:rPr>
              <a:t>learning techniques offer hope by leveraging extensive health data for precise predictions.</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Information </a:t>
            </a:r>
            <a:r>
              <a:rPr lang="en-US" sz="4900" dirty="0">
                <a:latin typeface="Times New Roman" panose="02020603050405020304" pitchFamily="18" charset="0"/>
                <a:cs typeface="Times New Roman" panose="02020603050405020304" pitchFamily="18" charset="0"/>
              </a:rPr>
              <a:t>technology's integration aids medical decision-making.</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Instrumental </a:t>
            </a:r>
            <a:r>
              <a:rPr lang="en-US" sz="4900" dirty="0">
                <a:latin typeface="Times New Roman" panose="02020603050405020304" pitchFamily="18" charset="0"/>
                <a:cs typeface="Times New Roman" panose="02020603050405020304" pitchFamily="18" charset="0"/>
              </a:rPr>
              <a:t>in disease management, medication practices, and identifying patterns within diagnostic data.</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Traditional </a:t>
            </a:r>
            <a:r>
              <a:rPr lang="en-US" sz="4900" dirty="0">
                <a:latin typeface="Times New Roman" panose="02020603050405020304" pitchFamily="18" charset="0"/>
                <a:cs typeface="Times New Roman" panose="02020603050405020304" pitchFamily="18" charset="0"/>
              </a:rPr>
              <a:t>risk prediction methods exhibit limitations.</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Machine </a:t>
            </a:r>
            <a:r>
              <a:rPr lang="en-US" sz="4900" dirty="0">
                <a:latin typeface="Times New Roman" panose="02020603050405020304" pitchFamily="18" charset="0"/>
                <a:cs typeface="Times New Roman" panose="02020603050405020304" pitchFamily="18" charset="0"/>
              </a:rPr>
              <a:t>learning leverages complex risk factor interactions, enhancing accuracy in cardiovascular risk prediction.</a:t>
            </a:r>
          </a:p>
          <a:p>
            <a:pPr marL="357188" lvl="1" algn="just">
              <a:lnSpc>
                <a:spcPct val="120000"/>
              </a:lnSpc>
              <a:buFont typeface="Arial" panose="020B0604020202020204" pitchFamily="34" charset="0"/>
              <a:buChar char="•"/>
            </a:pPr>
            <a:r>
              <a:rPr lang="en-US" sz="4900" dirty="0" smtClean="0">
                <a:latin typeface="Times New Roman" panose="02020603050405020304" pitchFamily="18" charset="0"/>
                <a:cs typeface="Times New Roman" panose="02020603050405020304" pitchFamily="18" charset="0"/>
              </a:rPr>
              <a:t>Exploring </a:t>
            </a:r>
            <a:r>
              <a:rPr lang="en-US" sz="4900" dirty="0">
                <a:latin typeface="Times New Roman" panose="02020603050405020304" pitchFamily="18" charset="0"/>
                <a:cs typeface="Times New Roman" panose="02020603050405020304" pitchFamily="18" charset="0"/>
              </a:rPr>
              <a:t>sophisticated technologies holds the potential to revolutionize cardiovascular healthcare</a:t>
            </a:r>
            <a:r>
              <a:rPr lang="en-US" sz="4900" dirty="0" smtClean="0">
                <a:latin typeface="Times New Roman" panose="02020603050405020304" pitchFamily="18" charset="0"/>
                <a:cs typeface="Times New Roman" panose="02020603050405020304" pitchFamily="18" charset="0"/>
              </a:rPr>
              <a:t>.</a:t>
            </a:r>
            <a:endParaRPr lang="en-US" sz="4900" dirty="0">
              <a:latin typeface="Times New Roman" panose="02020603050405020304" pitchFamily="18" charset="0"/>
              <a:cs typeface="Times New Roman" panose="02020603050405020304" pitchFamily="18" charset="0"/>
            </a:endParaRPr>
          </a:p>
          <a:p>
            <a:pPr marL="357188" lvl="1"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a:xfrm>
            <a:off x="468573" y="6405871"/>
            <a:ext cx="2133600" cy="365125"/>
          </a:xfrm>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solidFill>
                  <a:prstClr val="black">
                    <a:tint val="75000"/>
                  </a:prstClr>
                </a:solidFill>
              </a:rPr>
              <a:pPr/>
              <a:t>5</a:t>
            </a:fld>
            <a:endParaRPr lang="en-US" dirty="0">
              <a:solidFill>
                <a:prstClr val="black">
                  <a:tint val="75000"/>
                </a:prstClr>
              </a:solidFill>
            </a:endParaRPr>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0" name="TextBox 9"/>
          <p:cNvSpPr txBox="1"/>
          <p:nvPr/>
        </p:nvSpPr>
        <p:spPr>
          <a:xfrm>
            <a:off x="147034" y="5636430"/>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
        <p:nvSpPr>
          <p:cNvPr id="12" name="TextBox 11"/>
          <p:cNvSpPr txBox="1"/>
          <p:nvPr/>
        </p:nvSpPr>
        <p:spPr>
          <a:xfrm>
            <a:off x="228600" y="685800"/>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Tree>
    <p:extLst>
      <p:ext uri="{BB962C8B-B14F-4D97-AF65-F5344CB8AC3E}">
        <p14:creationId xmlns:p14="http://schemas.microsoft.com/office/powerpoint/2010/main" val="4248840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6018">
        <p15:prstTrans prst="pageCurlDouble"/>
      </p:transition>
    </mc:Choice>
    <mc:Fallback xmlns="">
      <p:transition spd="slow" advTm="6018">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457200" y="571500"/>
            <a:ext cx="8229600" cy="1143000"/>
          </a:xfrm>
        </p:spPr>
        <p:txBody>
          <a:bodyPr>
            <a:normAutofit fontScale="90000"/>
          </a:bodyPr>
          <a:lstStyle/>
          <a:p>
            <a:r>
              <a:rPr lang="en-US" sz="4900" b="1" i="1" dirty="0">
                <a:latin typeface="Times New Roman" panose="02020603050405020304" pitchFamily="18" charset="0"/>
                <a:cs typeface="Times New Roman" panose="02020603050405020304" pitchFamily="18" charset="0"/>
              </a:rPr>
              <a:t>Literature Review</a:t>
            </a:r>
            <a:r>
              <a:rPr lang="en-US" sz="3200" dirty="0"/>
              <a:t/>
            </a:r>
            <a:br>
              <a:rPr lang="en-US" sz="3200" dirty="0"/>
            </a:br>
            <a:endParaRPr lang="en-US" dirty="0"/>
          </a:p>
        </p:txBody>
      </p:sp>
      <p:sp>
        <p:nvSpPr>
          <p:cNvPr id="3" name="Content Placeholder 2"/>
          <p:cNvSpPr>
            <a:spLocks noGrp="1"/>
          </p:cNvSpPr>
          <p:nvPr>
            <p:ph idx="1"/>
          </p:nvPr>
        </p:nvSpPr>
        <p:spPr>
          <a:xfrm>
            <a:off x="457200" y="1412748"/>
            <a:ext cx="7848600" cy="4713415"/>
          </a:xfrm>
          <a:prstGeom prst="rect">
            <a:avLst/>
          </a:prstGeom>
        </p:spPr>
        <p:txBody>
          <a:bodyPr>
            <a:noAutofit/>
          </a:bodyPr>
          <a:lstStyle/>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Driven </a:t>
            </a:r>
            <a:r>
              <a:rPr lang="en-US" sz="1600" dirty="0">
                <a:latin typeface="Times New Roman" panose="02020603050405020304" pitchFamily="18" charset="0"/>
                <a:cs typeface="Times New Roman" panose="02020603050405020304" pitchFamily="18" charset="0"/>
              </a:rPr>
              <a:t>a surge in research focused on leveraging Machine Learning (ML) techniques for accurate prediction and early intervention.</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Emphasizes </a:t>
            </a:r>
            <a:r>
              <a:rPr lang="en-US" sz="1600" dirty="0">
                <a:latin typeface="Times New Roman" panose="02020603050405020304" pitchFamily="18" charset="0"/>
                <a:cs typeface="Times New Roman" panose="02020603050405020304" pitchFamily="18" charset="0"/>
              </a:rPr>
              <a:t>ML's pivotal role in healthcare, specifically in predicting potential heart conditions.</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Delves </a:t>
            </a:r>
            <a:r>
              <a:rPr lang="en-US" sz="1600" dirty="0">
                <a:latin typeface="Times New Roman" panose="02020603050405020304" pitchFamily="18" charset="0"/>
                <a:cs typeface="Times New Roman" panose="02020603050405020304" pitchFamily="18" charset="0"/>
              </a:rPr>
              <a:t>into diverse classifiers: Decision Tree, Naive Bayes, Logistic Regression, SVM, and Random Forest.</a:t>
            </a:r>
          </a:p>
          <a:p>
            <a:pPr marL="268288" lvl="1" indent="-268288">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Proposes </a:t>
            </a:r>
            <a:r>
              <a:rPr lang="en-US" sz="1600" dirty="0">
                <a:latin typeface="Times New Roman" panose="02020603050405020304" pitchFamily="18" charset="0"/>
                <a:cs typeface="Times New Roman" panose="02020603050405020304" pitchFamily="18" charset="0"/>
              </a:rPr>
              <a:t>an ensemble classifier amalgamating strong and weak classifiers for improved predictive accuracy.</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Stresses </a:t>
            </a:r>
            <a:r>
              <a:rPr lang="en-US" sz="1600" dirty="0">
                <a:latin typeface="Times New Roman" panose="02020603050405020304" pitchFamily="18" charset="0"/>
                <a:cs typeface="Times New Roman" panose="02020603050405020304" pitchFamily="18" charset="0"/>
              </a:rPr>
              <a:t>the importance of early automatic diagnosis of heart disease using data mining techniques.</a:t>
            </a:r>
          </a:p>
          <a:p>
            <a:pPr marL="268288" lvl="1" indent="-268288">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Incorporates </a:t>
            </a:r>
            <a:r>
              <a:rPr lang="en-US" sz="1600" dirty="0">
                <a:latin typeface="Times New Roman" panose="02020603050405020304" pitchFamily="18" charset="0"/>
                <a:cs typeface="Times New Roman" panose="02020603050405020304" pitchFamily="18" charset="0"/>
              </a:rPr>
              <a:t>various medical attributes, such as blood sugar and heart rate.</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Practical application demonstrated using WEKA software.</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Presents a Hybrid Random Forest Linear Method (HRFLM) for heart disease prediction.</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Combines </a:t>
            </a:r>
            <a:r>
              <a:rPr lang="en-US" sz="1600" dirty="0">
                <a:latin typeface="Times New Roman" panose="02020603050405020304" pitchFamily="18" charset="0"/>
                <a:cs typeface="Times New Roman" panose="02020603050405020304" pitchFamily="18" charset="0"/>
              </a:rPr>
              <a:t>Random Forest (RF) and Linear methods, achieving better results than traditional algorithms.</a:t>
            </a:r>
          </a:p>
          <a:p>
            <a:pPr marL="268288" lvl="1" indent="-268288">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Proposes </a:t>
            </a:r>
            <a:r>
              <a:rPr lang="en-US" sz="1600" dirty="0">
                <a:latin typeface="Times New Roman" panose="02020603050405020304" pitchFamily="18" charset="0"/>
                <a:cs typeface="Times New Roman" panose="02020603050405020304" pitchFamily="18" charset="0"/>
              </a:rPr>
              <a:t>a system based on linear Support Vector Machines (SVM) with L1 and L2 regularization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a:xfrm>
            <a:off x="457200" y="6400800"/>
            <a:ext cx="2133600" cy="365125"/>
          </a:xfrm>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solidFill>
                  <a:prstClr val="black">
                    <a:tint val="75000"/>
                  </a:prstClr>
                </a:solidFill>
              </a:rPr>
              <a:pPr/>
              <a:t>6</a:t>
            </a:fld>
            <a:endParaRPr lang="en-US">
              <a:solidFill>
                <a:prstClr val="black">
                  <a:tint val="75000"/>
                </a:prstClr>
              </a:solidFill>
            </a:endParaRPr>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0" name="TextBox 9"/>
          <p:cNvSpPr txBox="1"/>
          <p:nvPr/>
        </p:nvSpPr>
        <p:spPr>
          <a:xfrm>
            <a:off x="228600" y="5741442"/>
            <a:ext cx="8915400" cy="769441"/>
          </a:xfrm>
          <a:prstGeom prst="rect">
            <a:avLst/>
          </a:prstGeom>
          <a:noFill/>
        </p:spPr>
        <p:txBody>
          <a:bodyPr wrap="square" rtlCol="0">
            <a:spAutoFit/>
          </a:bodyPr>
          <a:lstStyle/>
          <a:p>
            <a:r>
              <a:rPr lang="en-US" sz="4400" u="sng" dirty="0" smtClean="0">
                <a:solidFill>
                  <a:srgbClr val="1F497D">
                    <a:lumMod val="75000"/>
                  </a:srgbClr>
                </a:solidFill>
              </a:rPr>
              <a:t>______________________________</a:t>
            </a:r>
            <a:endParaRPr lang="en-US" sz="4400" u="sng" dirty="0">
              <a:solidFill>
                <a:srgbClr val="1F497D">
                  <a:lumMod val="75000"/>
                </a:srgbClr>
              </a:solidFill>
            </a:endParaRPr>
          </a:p>
        </p:txBody>
      </p:sp>
      <p:sp>
        <p:nvSpPr>
          <p:cNvPr id="12" name="TextBox 11"/>
          <p:cNvSpPr txBox="1"/>
          <p:nvPr/>
        </p:nvSpPr>
        <p:spPr>
          <a:xfrm>
            <a:off x="228600" y="648197"/>
            <a:ext cx="8915400" cy="769441"/>
          </a:xfrm>
          <a:prstGeom prst="rect">
            <a:avLst/>
          </a:prstGeom>
          <a:noFill/>
        </p:spPr>
        <p:txBody>
          <a:bodyPr wrap="square" rtlCol="0">
            <a:spAutoFit/>
          </a:bodyPr>
          <a:lstStyle/>
          <a:p>
            <a:r>
              <a:rPr lang="en-US" sz="4400" u="sng" dirty="0">
                <a:solidFill>
                  <a:srgbClr val="1F497D">
                    <a:lumMod val="75000"/>
                  </a:srgbClr>
                </a:solidFill>
              </a:rPr>
              <a:t>_______________________________</a:t>
            </a:r>
          </a:p>
        </p:txBody>
      </p:sp>
    </p:spTree>
    <p:extLst>
      <p:ext uri="{BB962C8B-B14F-4D97-AF65-F5344CB8AC3E}">
        <p14:creationId xmlns:p14="http://schemas.microsoft.com/office/powerpoint/2010/main" val="30746451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6803">
        <p15:prstTrans prst="pageCurlDouble"/>
      </p:transition>
    </mc:Choice>
    <mc:Fallback xmlns="">
      <p:transition spd="slow" advTm="6803">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320421" y="692774"/>
            <a:ext cx="8229600" cy="1143000"/>
          </a:xfrm>
        </p:spPr>
        <p:txBody>
          <a:bodyPr>
            <a:noAutofit/>
          </a:bodyPr>
          <a:lstStyle/>
          <a:p>
            <a:r>
              <a:rPr lang="en-US" b="1" i="1" dirty="0">
                <a:latin typeface="Times New Roman" panose="02020603050405020304" pitchFamily="18" charset="0"/>
                <a:cs typeface="Times New Roman" panose="02020603050405020304" pitchFamily="18" charset="0"/>
              </a:rPr>
              <a:t>Proposed Methodology</a:t>
            </a:r>
            <a:br>
              <a:rPr lang="en-US" b="1" i="1" dirty="0">
                <a:latin typeface="Times New Roman" panose="02020603050405020304" pitchFamily="18" charset="0"/>
                <a:cs typeface="Times New Roman" panose="02020603050405020304" pitchFamily="18" charset="0"/>
              </a:rPr>
            </a:br>
            <a:endParaRPr lang="en-US" b="1" i="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96621" y="1423047"/>
            <a:ext cx="8382000" cy="4933303"/>
          </a:xfrm>
        </p:spPr>
        <p:txBody>
          <a:bodyPr>
            <a:noAutofit/>
          </a:bodyPr>
          <a:lstStyle/>
          <a:p>
            <a:pPr algn="just"/>
            <a:r>
              <a:rPr lang="en-US" sz="1400" dirty="0" smtClean="0">
                <a:latin typeface="Times New Roman" panose="02020603050405020304" pitchFamily="18" charset="0"/>
                <a:cs typeface="Times New Roman" panose="02020603050405020304" pitchFamily="18" charset="0"/>
              </a:rPr>
              <a:t>Blood </a:t>
            </a:r>
            <a:r>
              <a:rPr lang="en-US" sz="1400" dirty="0">
                <a:latin typeface="Times New Roman" panose="02020603050405020304" pitchFamily="18" charset="0"/>
                <a:cs typeface="Times New Roman" panose="02020603050405020304" pitchFamily="18" charset="0"/>
              </a:rPr>
              <a:t>pressure, chest pain, ECG results, </a:t>
            </a:r>
            <a:r>
              <a:rPr lang="en-US" sz="1400" dirty="0" smtClean="0">
                <a:latin typeface="Times New Roman" panose="02020603050405020304" pitchFamily="18" charset="0"/>
                <a:cs typeface="Times New Roman" panose="02020603050405020304" pitchFamily="18" charset="0"/>
              </a:rPr>
              <a:t>etc. </a:t>
            </a:r>
            <a:endParaRPr lang="en-US" sz="1400" dirty="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Merged </a:t>
            </a:r>
            <a:r>
              <a:rPr lang="en-US" sz="1400" dirty="0">
                <a:latin typeface="Times New Roman" panose="02020603050405020304" pitchFamily="18" charset="0"/>
                <a:cs typeface="Times New Roman" panose="02020603050405020304" pitchFamily="18" charset="0"/>
              </a:rPr>
              <a:t>data from varied sources.</a:t>
            </a:r>
          </a:p>
          <a:p>
            <a:pPr algn="just"/>
            <a:r>
              <a:rPr lang="en-US" sz="1400" dirty="0" smtClean="0">
                <a:latin typeface="Times New Roman" panose="02020603050405020304" pitchFamily="18" charset="0"/>
                <a:cs typeface="Times New Roman" panose="02020603050405020304" pitchFamily="18" charset="0"/>
              </a:rPr>
              <a:t>Formatted </a:t>
            </a:r>
            <a:r>
              <a:rPr lang="en-US" sz="1400" dirty="0">
                <a:latin typeface="Times New Roman" panose="02020603050405020304" pitchFamily="18" charset="0"/>
                <a:cs typeface="Times New Roman" panose="02020603050405020304" pitchFamily="18" charset="0"/>
              </a:rPr>
              <a:t>complex data for effective analysis.</a:t>
            </a:r>
          </a:p>
          <a:p>
            <a:pPr algn="just"/>
            <a:r>
              <a:rPr lang="en-US" sz="1400" dirty="0" smtClean="0">
                <a:latin typeface="Times New Roman" panose="02020603050405020304" pitchFamily="18" charset="0"/>
                <a:cs typeface="Times New Roman" panose="02020603050405020304" pitchFamily="18" charset="0"/>
              </a:rPr>
              <a:t>Split </a:t>
            </a:r>
            <a:r>
              <a:rPr lang="en-US" sz="1400" dirty="0">
                <a:latin typeface="Times New Roman" panose="02020603050405020304" pitchFamily="18" charset="0"/>
                <a:cs typeface="Times New Roman" panose="02020603050405020304" pitchFamily="18" charset="0"/>
              </a:rPr>
              <a:t>data for rigorous evaluation</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Percentage of Female Patients:31.68</a:t>
            </a:r>
            <a:r>
              <a:rPr lang="en-US" sz="1400" dirty="0" smtClean="0">
                <a:latin typeface="Times New Roman" panose="02020603050405020304" pitchFamily="18" charset="0"/>
                <a:cs typeface="Times New Roman" panose="02020603050405020304" pitchFamily="18" charset="0"/>
              </a:rPr>
              <a:t>%</a:t>
            </a:r>
          </a:p>
          <a:p>
            <a:pPr algn="just"/>
            <a:r>
              <a:rPr lang="en-US" sz="1400" dirty="0" smtClean="0">
                <a:latin typeface="Times New Roman" panose="02020603050405020304" pitchFamily="18" charset="0"/>
                <a:cs typeface="Times New Roman" panose="02020603050405020304" pitchFamily="18" charset="0"/>
              </a:rPr>
              <a:t>Percentage </a:t>
            </a:r>
            <a:r>
              <a:rPr lang="en-US" sz="1400" dirty="0">
                <a:latin typeface="Times New Roman" panose="02020603050405020304" pitchFamily="18" charset="0"/>
                <a:cs typeface="Times New Roman" panose="02020603050405020304" pitchFamily="18" charset="0"/>
              </a:rPr>
              <a:t>of Male Patients:68.32</a:t>
            </a:r>
            <a:r>
              <a:rPr lang="en-US" sz="1400" dirty="0" smtClean="0">
                <a:latin typeface="Times New Roman" panose="02020603050405020304" pitchFamily="18" charset="0"/>
                <a:cs typeface="Times New Roman" panose="02020603050405020304" pitchFamily="18" charset="0"/>
              </a:rPr>
              <a:t>%</a:t>
            </a:r>
          </a:p>
          <a:p>
            <a:pPr algn="just"/>
            <a:r>
              <a:rPr lang="en-US" sz="1400" dirty="0" smtClean="0">
                <a:latin typeface="Times New Roman" panose="02020603050405020304" pitchFamily="18" charset="0"/>
                <a:cs typeface="Times New Roman" panose="02020603050405020304" pitchFamily="18" charset="0"/>
              </a:rPr>
              <a:t>Accuracy </a:t>
            </a:r>
            <a:r>
              <a:rPr lang="en-US" sz="1400" dirty="0">
                <a:latin typeface="Times New Roman" panose="02020603050405020304" pitchFamily="18" charset="0"/>
                <a:cs typeface="Times New Roman" panose="02020603050405020304" pitchFamily="18" charset="0"/>
              </a:rPr>
              <a:t>scores benchmarked against existing studies</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Considered independence assumptions, potential for over classification, and sensitivity to noisy features.</a:t>
            </a:r>
          </a:p>
          <a:p>
            <a:pPr algn="just"/>
            <a:r>
              <a:rPr lang="en-US" sz="1400" dirty="0">
                <a:latin typeface="Times New Roman" panose="02020603050405020304" pitchFamily="18" charset="0"/>
                <a:cs typeface="Times New Roman" panose="02020603050405020304" pitchFamily="18" charset="0"/>
              </a:rPr>
              <a:t>Slower predictions in ensemble approach but excels in handling missing values</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Precision in heart-related condition prediction</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Percentage of patience without heart problems: </a:t>
            </a:r>
            <a:r>
              <a:rPr lang="en-US" sz="1400" dirty="0" smtClean="0">
                <a:latin typeface="Times New Roman" panose="02020603050405020304" pitchFamily="18" charset="0"/>
                <a:cs typeface="Times New Roman" panose="02020603050405020304" pitchFamily="18" charset="0"/>
              </a:rPr>
              <a:t>45.54%</a:t>
            </a:r>
          </a:p>
          <a:p>
            <a:pPr algn="just"/>
            <a:r>
              <a:rPr lang="en-US" sz="1400" dirty="0" smtClean="0">
                <a:latin typeface="Times New Roman" panose="02020603050405020304" pitchFamily="18" charset="0"/>
                <a:cs typeface="Times New Roman" panose="02020603050405020304" pitchFamily="18" charset="0"/>
              </a:rPr>
              <a:t>Percentage </a:t>
            </a:r>
            <a:r>
              <a:rPr lang="en-US" sz="1400" dirty="0">
                <a:latin typeface="Times New Roman" panose="02020603050405020304" pitchFamily="18" charset="0"/>
                <a:cs typeface="Times New Roman" panose="02020603050405020304" pitchFamily="18" charset="0"/>
              </a:rPr>
              <a:t>of patience with heart problems: </a:t>
            </a:r>
            <a:r>
              <a:rPr lang="en-US" sz="1400" dirty="0" smtClean="0">
                <a:latin typeface="Times New Roman" panose="02020603050405020304" pitchFamily="18" charset="0"/>
                <a:cs typeface="Times New Roman" panose="02020603050405020304" pitchFamily="18" charset="0"/>
              </a:rPr>
              <a:t>54.46%</a:t>
            </a:r>
          </a:p>
          <a:p>
            <a:pPr algn="just"/>
            <a:r>
              <a:rPr lang="en-US" sz="1400" dirty="0" smtClean="0">
                <a:latin typeface="Times New Roman" panose="02020603050405020304" pitchFamily="18" charset="0"/>
                <a:cs typeface="Times New Roman" panose="02020603050405020304" pitchFamily="18" charset="0"/>
              </a:rPr>
              <a:t>Target: Male:1, Female: 0</a:t>
            </a:r>
            <a:endParaRPr lang="en-US" sz="1400" dirty="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Advances </a:t>
            </a:r>
            <a:r>
              <a:rPr lang="en-US" sz="1400" dirty="0">
                <a:latin typeface="Times New Roman" panose="02020603050405020304" pitchFamily="18" charset="0"/>
                <a:cs typeface="Times New Roman" panose="02020603050405020304" pitchFamily="18" charset="0"/>
              </a:rPr>
              <a:t>healthcare applications.</a:t>
            </a:r>
          </a:p>
          <a:p>
            <a:pPr algn="just"/>
            <a:r>
              <a:rPr lang="en-US" sz="1400" dirty="0" smtClean="0">
                <a:latin typeface="Times New Roman" panose="02020603050405020304" pitchFamily="18" charset="0"/>
                <a:cs typeface="Times New Roman" panose="02020603050405020304" pitchFamily="18" charset="0"/>
              </a:rPr>
              <a:t>Demonstrated </a:t>
            </a:r>
            <a:r>
              <a:rPr lang="en-US" sz="1400" dirty="0">
                <a:latin typeface="Times New Roman" panose="02020603050405020304" pitchFamily="18" charset="0"/>
                <a:cs typeface="Times New Roman" panose="02020603050405020304" pitchFamily="18" charset="0"/>
              </a:rPr>
              <a:t>competitive standing.</a:t>
            </a:r>
          </a:p>
          <a:p>
            <a:pPr algn="just"/>
            <a:r>
              <a:rPr lang="en-US" sz="1400" dirty="0" smtClean="0">
                <a:latin typeface="Times New Roman" panose="02020603050405020304" pitchFamily="18" charset="0"/>
                <a:cs typeface="Times New Roman" panose="02020603050405020304" pitchFamily="18" charset="0"/>
              </a:rPr>
              <a:t>Potential </a:t>
            </a:r>
            <a:r>
              <a:rPr lang="en-US" sz="1400" dirty="0">
                <a:latin typeface="Times New Roman" panose="02020603050405020304" pitchFamily="18" charset="0"/>
                <a:cs typeface="Times New Roman" panose="02020603050405020304" pitchFamily="18" charset="0"/>
              </a:rPr>
              <a:t>for predictive precision.</a:t>
            </a:r>
          </a:p>
          <a:p>
            <a:pPr algn="just"/>
            <a:endParaRPr lang="en-US" sz="1200"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pPr/>
              <a:t>7</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228600" y="563135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sp>
        <p:nvSpPr>
          <p:cNvPr id="12" name="TextBox 11"/>
          <p:cNvSpPr txBox="1"/>
          <p:nvPr/>
        </p:nvSpPr>
        <p:spPr>
          <a:xfrm>
            <a:off x="228600" y="648197"/>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pic>
        <p:nvPicPr>
          <p:cNvPr id="15" name="Picture 14"/>
          <p:cNvPicPr/>
          <p:nvPr/>
        </p:nvPicPr>
        <p:blipFill rotWithShape="1">
          <a:blip r:embed="rId4"/>
          <a:srcRect l="2526" r="1491"/>
          <a:stretch/>
        </p:blipFill>
        <p:spPr>
          <a:xfrm>
            <a:off x="5867400" y="4267200"/>
            <a:ext cx="2895600" cy="1951971"/>
          </a:xfrm>
          <a:prstGeom prst="rect">
            <a:avLst/>
          </a:prstGeom>
        </p:spPr>
      </p:pic>
      <p:pic>
        <p:nvPicPr>
          <p:cNvPr id="17" name="Picture 16"/>
          <p:cNvPicPr/>
          <p:nvPr/>
        </p:nvPicPr>
        <p:blipFill>
          <a:blip r:embed="rId5"/>
          <a:stretch>
            <a:fillRect/>
          </a:stretch>
        </p:blipFill>
        <p:spPr>
          <a:xfrm>
            <a:off x="5334000" y="1356135"/>
            <a:ext cx="3217158" cy="1843798"/>
          </a:xfrm>
          <a:prstGeom prst="rect">
            <a:avLst/>
          </a:prstGeom>
        </p:spPr>
      </p:pic>
      <p:pic>
        <p:nvPicPr>
          <p:cNvPr id="18" name="Picture 17"/>
          <p:cNvPicPr/>
          <p:nvPr/>
        </p:nvPicPr>
        <p:blipFill rotWithShape="1">
          <a:blip r:embed="rId6"/>
          <a:srcRect l="3110" r="3504" b="2168"/>
          <a:stretch/>
        </p:blipFill>
        <p:spPr>
          <a:xfrm>
            <a:off x="3459290" y="4800600"/>
            <a:ext cx="2362200" cy="1418571"/>
          </a:xfrm>
          <a:prstGeom prst="rect">
            <a:avLst/>
          </a:prstGeom>
        </p:spPr>
      </p:pic>
    </p:spTree>
    <p:extLst>
      <p:ext uri="{BB962C8B-B14F-4D97-AF65-F5344CB8AC3E}">
        <p14:creationId xmlns:p14="http://schemas.microsoft.com/office/powerpoint/2010/main" val="1386337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8782">
        <p15:prstTrans prst="pageCurlDouble"/>
      </p:transition>
    </mc:Choice>
    <mc:Fallback xmlns="">
      <p:transition spd="slow" advTm="8782">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440140" y="571500"/>
            <a:ext cx="8229600" cy="1143000"/>
          </a:xfrm>
        </p:spPr>
        <p:txBody>
          <a:bodyPr>
            <a:noAutofit/>
          </a:bodyPr>
          <a:lstStyle/>
          <a:p>
            <a:r>
              <a:rPr lang="en-US" b="1" i="1" dirty="0" smtClean="0">
                <a:latin typeface="Times New Roman" panose="02020603050405020304" pitchFamily="18" charset="0"/>
                <a:cs typeface="Times New Roman" panose="02020603050405020304" pitchFamily="18" charset="0"/>
              </a:rPr>
              <a:t>Results</a:t>
            </a:r>
            <a:br>
              <a:rPr lang="en-US" b="1" i="1" dirty="0" smtClean="0">
                <a:latin typeface="Times New Roman" panose="02020603050405020304" pitchFamily="18" charset="0"/>
                <a:cs typeface="Times New Roman" panose="02020603050405020304" pitchFamily="18" charset="0"/>
              </a:rPr>
            </a:b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27720"/>
            <a:ext cx="8347880" cy="4720680"/>
          </a:xfrm>
          <a:prstGeom prst="rect">
            <a:avLst/>
          </a:prstGeom>
        </p:spPr>
        <p:txBody>
          <a:bodyPr>
            <a:noAutofit/>
          </a:bodyPr>
          <a:lstStyle/>
          <a:p>
            <a:pPr algn="just"/>
            <a:r>
              <a:rPr lang="en-US" sz="1600" dirty="0" smtClean="0">
                <a:latin typeface="Times New Roman" panose="02020603050405020304" pitchFamily="18" charset="0"/>
                <a:cs typeface="Times New Roman" panose="02020603050405020304" pitchFamily="18" charset="0"/>
              </a:rPr>
              <a:t>Predict </a:t>
            </a:r>
            <a:r>
              <a:rPr lang="en-US" sz="1600" dirty="0">
                <a:latin typeface="Times New Roman" panose="02020603050405020304" pitchFamily="18" charset="0"/>
                <a:cs typeface="Times New Roman" panose="02020603050405020304" pitchFamily="18" charset="0"/>
              </a:rPr>
              <a:t>likelihood of heart disease using supervised ML.</a:t>
            </a:r>
          </a:p>
          <a:p>
            <a:pPr algn="just"/>
            <a:r>
              <a:rPr lang="en-US" sz="1600" dirty="0" smtClean="0">
                <a:latin typeface="Times New Roman" panose="02020603050405020304" pitchFamily="18" charset="0"/>
                <a:cs typeface="Times New Roman" panose="02020603050405020304" pitchFamily="18" charset="0"/>
              </a:rPr>
              <a:t>Dataset </a:t>
            </a:r>
            <a:r>
              <a:rPr lang="en-US" sz="1600" dirty="0">
                <a:latin typeface="Times New Roman" panose="02020603050405020304" pitchFamily="18" charset="0"/>
                <a:cs typeface="Times New Roman" panose="02020603050405020304" pitchFamily="18" charset="0"/>
              </a:rPr>
              <a:t>sourced from UCI repository.</a:t>
            </a:r>
          </a:p>
          <a:p>
            <a:pPr algn="just"/>
            <a:r>
              <a:rPr lang="en-US" sz="1600" dirty="0" smtClean="0">
                <a:latin typeface="Times New Roman" panose="02020603050405020304" pitchFamily="18" charset="0"/>
                <a:cs typeface="Times New Roman" panose="02020603050405020304" pitchFamily="18" charset="0"/>
              </a:rPr>
              <a:t>Dataset </a:t>
            </a:r>
            <a:r>
              <a:rPr lang="en-US" sz="1600" dirty="0">
                <a:latin typeface="Times New Roman" panose="02020603050405020304" pitchFamily="18" charset="0"/>
                <a:cs typeface="Times New Roman" panose="02020603050405020304" pitchFamily="18" charset="0"/>
              </a:rPr>
              <a:t>division into training and test sets.</a:t>
            </a:r>
          </a:p>
          <a:p>
            <a:pPr algn="just"/>
            <a:r>
              <a:rPr lang="en-US" sz="1600" dirty="0" smtClean="0">
                <a:latin typeface="Times New Roman" panose="02020603050405020304" pitchFamily="18" charset="0"/>
                <a:cs typeface="Times New Roman" panose="02020603050405020304" pitchFamily="18" charset="0"/>
              </a:rPr>
              <a:t>Data </a:t>
            </a:r>
            <a:r>
              <a:rPr lang="en-US" sz="1600" dirty="0">
                <a:latin typeface="Times New Roman" panose="02020603050405020304" pitchFamily="18" charset="0"/>
                <a:cs typeface="Times New Roman" panose="02020603050405020304" pitchFamily="18" charset="0"/>
              </a:rPr>
              <a:t>pre-processing for cleaning and optimization.</a:t>
            </a:r>
          </a:p>
          <a:p>
            <a:pPr algn="just"/>
            <a:r>
              <a:rPr lang="en-US" sz="1600" dirty="0" smtClean="0">
                <a:latin typeface="Times New Roman" panose="02020603050405020304" pitchFamily="18" charset="0"/>
                <a:cs typeface="Times New Roman" panose="02020603050405020304" pitchFamily="18" charset="0"/>
              </a:rPr>
              <a:t>Graphical </a:t>
            </a:r>
            <a:r>
              <a:rPr lang="en-US" sz="1600" dirty="0">
                <a:latin typeface="Times New Roman" panose="02020603050405020304" pitchFamily="18" charset="0"/>
                <a:cs typeface="Times New Roman" panose="02020603050405020304" pitchFamily="18" charset="0"/>
              </a:rPr>
              <a:t>representation of accuracy scores.</a:t>
            </a:r>
          </a:p>
          <a:p>
            <a:pPr algn="just"/>
            <a:r>
              <a:rPr lang="en-US" sz="1600" dirty="0" smtClean="0">
                <a:latin typeface="Times New Roman" panose="02020603050405020304" pitchFamily="18" charset="0"/>
                <a:cs typeface="Times New Roman" panose="02020603050405020304" pitchFamily="18" charset="0"/>
              </a:rPr>
              <a:t>Comparison </a:t>
            </a:r>
            <a:r>
              <a:rPr lang="en-US" sz="1600" dirty="0">
                <a:latin typeface="Times New Roman" panose="02020603050405020304" pitchFamily="18" charset="0"/>
                <a:cs typeface="Times New Roman" panose="02020603050405020304" pitchFamily="18" charset="0"/>
              </a:rPr>
              <a:t>with scores from other studies.</a:t>
            </a:r>
          </a:p>
          <a:p>
            <a:pPr algn="just"/>
            <a:r>
              <a:rPr lang="en-US" sz="1600" dirty="0" smtClean="0">
                <a:latin typeface="Times New Roman" panose="02020603050405020304" pitchFamily="18" charset="0"/>
                <a:cs typeface="Times New Roman" panose="02020603050405020304" pitchFamily="18" charset="0"/>
              </a:rPr>
              <a:t>Contributes </a:t>
            </a:r>
            <a:r>
              <a:rPr lang="en-US" sz="1600" dirty="0">
                <a:latin typeface="Times New Roman" panose="02020603050405020304" pitchFamily="18" charset="0"/>
                <a:cs typeface="Times New Roman" panose="02020603050405020304" pitchFamily="18" charset="0"/>
              </a:rPr>
              <a:t>to ML techniques in cardiovascular health prediction (Shah, 2020).</a:t>
            </a:r>
          </a:p>
          <a:p>
            <a:pPr algn="just"/>
            <a:endParaRPr lang="en-US" sz="1600"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pPr/>
              <a:t>8</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228600" y="5631359"/>
            <a:ext cx="8915400" cy="769441"/>
          </a:xfrm>
          <a:prstGeom prst="rect">
            <a:avLst/>
          </a:prstGeom>
          <a:noFill/>
        </p:spPr>
        <p:txBody>
          <a:bodyPr wrap="square" rtlCol="0">
            <a:spAutoFit/>
          </a:bodyPr>
          <a:lstStyle/>
          <a:p>
            <a:r>
              <a:rPr lang="en-US" sz="4400" u="sng" dirty="0" smtClean="0">
                <a:solidFill>
                  <a:schemeClr val="tx2">
                    <a:lumMod val="75000"/>
                  </a:schemeClr>
                </a:solidFill>
              </a:rPr>
              <a:t>______________________________</a:t>
            </a:r>
            <a:endParaRPr lang="en-US" sz="4400" u="sng" dirty="0">
              <a:solidFill>
                <a:schemeClr val="tx2">
                  <a:lumMod val="75000"/>
                </a:schemeClr>
              </a:solidFill>
            </a:endParaRPr>
          </a:p>
        </p:txBody>
      </p:sp>
      <p:sp>
        <p:nvSpPr>
          <p:cNvPr id="12" name="TextBox 11"/>
          <p:cNvSpPr txBox="1"/>
          <p:nvPr/>
        </p:nvSpPr>
        <p:spPr>
          <a:xfrm>
            <a:off x="238125" y="75827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graphicFrame>
        <p:nvGraphicFramePr>
          <p:cNvPr id="2" name="Table 1"/>
          <p:cNvGraphicFramePr>
            <a:graphicFrameLocks noGrp="1"/>
          </p:cNvGraphicFramePr>
          <p:nvPr>
            <p:extLst>
              <p:ext uri="{D42A27DB-BD31-4B8C-83A1-F6EECF244321}">
                <p14:modId xmlns:p14="http://schemas.microsoft.com/office/powerpoint/2010/main" val="1576998690"/>
              </p:ext>
            </p:extLst>
          </p:nvPr>
        </p:nvGraphicFramePr>
        <p:xfrm>
          <a:off x="5424612" y="1930096"/>
          <a:ext cx="2723456" cy="1128699"/>
        </p:xfrm>
        <a:graphic>
          <a:graphicData uri="http://schemas.openxmlformats.org/drawingml/2006/table">
            <a:tbl>
              <a:tblPr firstRow="1" firstCol="1" bandRow="1">
                <a:tableStyleId>{5C22544A-7EE6-4342-B048-85BDC9FD1C3A}</a:tableStyleId>
              </a:tblPr>
              <a:tblGrid>
                <a:gridCol w="1504256">
                  <a:extLst>
                    <a:ext uri="{9D8B030D-6E8A-4147-A177-3AD203B41FA5}">
                      <a16:colId xmlns:a16="http://schemas.microsoft.com/office/drawing/2014/main" val="3078340725"/>
                    </a:ext>
                  </a:extLst>
                </a:gridCol>
                <a:gridCol w="1219200">
                  <a:extLst>
                    <a:ext uri="{9D8B030D-6E8A-4147-A177-3AD203B41FA5}">
                      <a16:colId xmlns:a16="http://schemas.microsoft.com/office/drawing/2014/main" val="3238189350"/>
                    </a:ext>
                  </a:extLst>
                </a:gridCol>
              </a:tblGrid>
              <a:tr h="191135">
                <a:tc>
                  <a:txBody>
                    <a:bodyPr/>
                    <a:lstStyle/>
                    <a:p>
                      <a:pPr algn="just">
                        <a:lnSpc>
                          <a:spcPct val="107000"/>
                        </a:lnSpc>
                        <a:spcAft>
                          <a:spcPts val="0"/>
                        </a:spcAft>
                      </a:pPr>
                      <a:r>
                        <a:rPr lang="en-US" sz="1200">
                          <a:effectLst/>
                        </a:rPr>
                        <a:t>Algorithm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Aft>
                          <a:spcPts val="0"/>
                        </a:spcAft>
                      </a:pPr>
                      <a:r>
                        <a:rPr lang="en-US" sz="1200" dirty="0">
                          <a:effectLst/>
                        </a:rPr>
                        <a:t>Accuracy Score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229895"/>
                  </a:ext>
                </a:extLst>
              </a:tr>
              <a:tr h="236397">
                <a:tc>
                  <a:txBody>
                    <a:bodyPr/>
                    <a:lstStyle/>
                    <a:p>
                      <a:pPr algn="just">
                        <a:lnSpc>
                          <a:spcPct val="107000"/>
                        </a:lnSpc>
                        <a:spcAft>
                          <a:spcPts val="0"/>
                        </a:spcAft>
                      </a:pPr>
                      <a:r>
                        <a:rPr lang="en-US" sz="1200" dirty="0">
                          <a:effectLst/>
                        </a:rPr>
                        <a:t>Naïve Bayes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Aft>
                          <a:spcPts val="0"/>
                        </a:spcAft>
                      </a:pPr>
                      <a:r>
                        <a:rPr lang="en-US" sz="1200" dirty="0" smtClean="0">
                          <a:effectLst/>
                        </a:rPr>
                        <a:t>85.25%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24072897"/>
                  </a:ext>
                </a:extLst>
              </a:tr>
              <a:tr h="152400">
                <a:tc>
                  <a:txBody>
                    <a:bodyPr/>
                    <a:lstStyle/>
                    <a:p>
                      <a:pPr algn="just">
                        <a:lnSpc>
                          <a:spcPct val="107000"/>
                        </a:lnSpc>
                        <a:spcAft>
                          <a:spcPts val="0"/>
                        </a:spcAft>
                      </a:pPr>
                      <a:r>
                        <a:rPr lang="en-US" sz="1200" dirty="0">
                          <a:effectLst/>
                        </a:rPr>
                        <a:t>Decision Tree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0"/>
                        </a:spcAft>
                      </a:pPr>
                      <a:r>
                        <a:rPr lang="en-US" sz="1200" dirty="0" smtClean="0">
                          <a:effectLst/>
                        </a:rPr>
                        <a:t>81.97%</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75633031"/>
                  </a:ext>
                </a:extLst>
              </a:tr>
              <a:tr h="218440">
                <a:tc>
                  <a:txBody>
                    <a:bodyPr/>
                    <a:lstStyle/>
                    <a:p>
                      <a:pPr algn="just">
                        <a:lnSpc>
                          <a:spcPct val="107000"/>
                        </a:lnSpc>
                        <a:spcAft>
                          <a:spcPts val="0"/>
                        </a:spcAft>
                      </a:pPr>
                      <a:r>
                        <a:rPr lang="en-US" sz="1100" b="1" dirty="0" smtClean="0">
                          <a:effectLst/>
                          <a:latin typeface="Calibri" panose="020F0502020204030204" pitchFamily="34" charset="0"/>
                          <a:ea typeface="Calibri" panose="020F0502020204030204" pitchFamily="34" charset="0"/>
                          <a:cs typeface="Arial" panose="020B0604020202020204" pitchFamily="34" charset="0"/>
                        </a:rPr>
                        <a:t>Logistic</a:t>
                      </a:r>
                      <a:r>
                        <a:rPr lang="en-US" sz="1100" b="1" baseline="0" dirty="0" smtClean="0">
                          <a:effectLst/>
                          <a:latin typeface="Calibri" panose="020F0502020204030204" pitchFamily="34" charset="0"/>
                          <a:ea typeface="Calibri" panose="020F0502020204030204" pitchFamily="34" charset="0"/>
                          <a:cs typeface="Arial" panose="020B0604020202020204" pitchFamily="34" charset="0"/>
                        </a:rPr>
                        <a:t> Regression</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Aft>
                          <a:spcPts val="0"/>
                        </a:spcAft>
                      </a:pPr>
                      <a:r>
                        <a:rPr lang="en-US" sz="1200" dirty="0" smtClean="0">
                          <a:effectLst/>
                        </a:rPr>
                        <a:t>85.21%</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90838251"/>
                  </a:ext>
                </a:extLst>
              </a:tr>
              <a:tr h="203835">
                <a:tc>
                  <a:txBody>
                    <a:bodyPr/>
                    <a:lstStyle/>
                    <a:p>
                      <a:pPr algn="just">
                        <a:lnSpc>
                          <a:spcPct val="107000"/>
                        </a:lnSpc>
                        <a:spcAft>
                          <a:spcPts val="0"/>
                        </a:spcAft>
                      </a:pPr>
                      <a:r>
                        <a:rPr lang="en-US" sz="1200" dirty="0">
                          <a:effectLst/>
                        </a:rPr>
                        <a:t>Random Forest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Aft>
                          <a:spcPts val="0"/>
                        </a:spcAft>
                      </a:pPr>
                      <a:r>
                        <a:rPr lang="en-US" sz="1200" dirty="0" smtClean="0">
                          <a:effectLst/>
                        </a:rPr>
                        <a:t>95.08%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8791431"/>
                  </a:ext>
                </a:extLst>
              </a:tr>
            </a:tbl>
          </a:graphicData>
        </a:graphic>
      </p:graphicFrame>
      <p:pic>
        <p:nvPicPr>
          <p:cNvPr id="17" name="Picture 16"/>
          <p:cNvPicPr/>
          <p:nvPr/>
        </p:nvPicPr>
        <p:blipFill>
          <a:blip r:embed="rId4"/>
          <a:stretch>
            <a:fillRect/>
          </a:stretch>
        </p:blipFill>
        <p:spPr>
          <a:xfrm>
            <a:off x="894292" y="3733800"/>
            <a:ext cx="7321295" cy="2385937"/>
          </a:xfrm>
          <a:prstGeom prst="rect">
            <a:avLst/>
          </a:prstGeom>
        </p:spPr>
      </p:pic>
    </p:spTree>
    <p:extLst>
      <p:ext uri="{BB962C8B-B14F-4D97-AF65-F5344CB8AC3E}">
        <p14:creationId xmlns:p14="http://schemas.microsoft.com/office/powerpoint/2010/main" val="4165527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60">
        <p15:prstTrans prst="pageCurlDouble"/>
      </p:transition>
    </mc:Choice>
    <mc:Fallback xmlns="">
      <p:transition spd="slow" advTm="96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13" name="Title 12"/>
          <p:cNvSpPr>
            <a:spLocks noGrp="1"/>
          </p:cNvSpPr>
          <p:nvPr>
            <p:ph type="title"/>
          </p:nvPr>
        </p:nvSpPr>
        <p:spPr>
          <a:xfrm>
            <a:off x="440140" y="571500"/>
            <a:ext cx="8229600" cy="1143000"/>
          </a:xfrm>
        </p:spPr>
        <p:txBody>
          <a:bodyPr>
            <a:noAutofit/>
          </a:bodyPr>
          <a:lstStyle/>
          <a:p>
            <a:r>
              <a:rPr lang="en-US" b="1" i="1" dirty="0" smtClean="0">
                <a:latin typeface="Times New Roman" panose="02020603050405020304" pitchFamily="18" charset="0"/>
                <a:cs typeface="Times New Roman" panose="02020603050405020304" pitchFamily="18" charset="0"/>
              </a:rPr>
              <a:t>Results</a:t>
            </a:r>
            <a:br>
              <a:rPr lang="en-US" b="1" i="1" dirty="0" smtClean="0">
                <a:latin typeface="Times New Roman" panose="02020603050405020304" pitchFamily="18" charset="0"/>
                <a:cs typeface="Times New Roman" panose="02020603050405020304" pitchFamily="18" charset="0"/>
              </a:rPr>
            </a:b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27720"/>
            <a:ext cx="8347880" cy="4720680"/>
          </a:xfrm>
          <a:prstGeom prst="rect">
            <a:avLst/>
          </a:prstGeom>
        </p:spPr>
        <p:txBody>
          <a:bodyPr>
            <a:noAutofit/>
          </a:bodyPr>
          <a:lstStyle/>
          <a:p>
            <a:pPr algn="just"/>
            <a:r>
              <a:rPr lang="en-US" sz="1600" dirty="0" smtClean="0">
                <a:latin typeface="Times New Roman" panose="02020603050405020304" pitchFamily="18" charset="0"/>
                <a:cs typeface="Times New Roman" panose="02020603050405020304" pitchFamily="18" charset="0"/>
              </a:rPr>
              <a:t>Naïve </a:t>
            </a:r>
            <a:r>
              <a:rPr lang="en-US" sz="1600" dirty="0">
                <a:latin typeface="Times New Roman" panose="02020603050405020304" pitchFamily="18" charset="0"/>
                <a:cs typeface="Times New Roman" panose="02020603050405020304" pitchFamily="18" charset="0"/>
              </a:rPr>
              <a:t>Bayes, decision tree, random forest, K-nearest neighbor.</a:t>
            </a:r>
          </a:p>
          <a:p>
            <a:pPr algn="just"/>
            <a:r>
              <a:rPr lang="en-US" sz="1600" dirty="0" smtClean="0">
                <a:latin typeface="Times New Roman" panose="02020603050405020304" pitchFamily="18" charset="0"/>
                <a:cs typeface="Times New Roman" panose="02020603050405020304" pitchFamily="18" charset="0"/>
              </a:rPr>
              <a:t>Employed </a:t>
            </a:r>
            <a:r>
              <a:rPr lang="en-US" sz="1600" dirty="0">
                <a:latin typeface="Times New Roman" panose="02020603050405020304" pitchFamily="18" charset="0"/>
                <a:cs typeface="Times New Roman" panose="02020603050405020304" pitchFamily="18" charset="0"/>
              </a:rPr>
              <a:t>Naïve Bayes, decision tree, K-nearest neighbor, and random forest.</a:t>
            </a:r>
          </a:p>
          <a:p>
            <a:pPr algn="just"/>
            <a:r>
              <a:rPr lang="en-US" sz="1600" dirty="0" smtClean="0">
                <a:latin typeface="Times New Roman" panose="02020603050405020304" pitchFamily="18" charset="0"/>
                <a:cs typeface="Times New Roman" panose="02020603050405020304" pitchFamily="18" charset="0"/>
              </a:rPr>
              <a:t>Implemented </a:t>
            </a:r>
            <a:r>
              <a:rPr lang="en-US" sz="1600" dirty="0">
                <a:latin typeface="Times New Roman" panose="02020603050405020304" pitchFamily="18" charset="0"/>
                <a:cs typeface="Times New Roman" panose="02020603050405020304" pitchFamily="18" charset="0"/>
              </a:rPr>
              <a:t>algorithms in </a:t>
            </a:r>
            <a:r>
              <a:rPr lang="en-US" sz="1600" dirty="0" smtClean="0">
                <a:latin typeface="Times New Roman" panose="02020603050405020304" pitchFamily="18" charset="0"/>
                <a:cs typeface="Times New Roman" panose="02020603050405020304" pitchFamily="18" charset="0"/>
              </a:rPr>
              <a:t>Python.</a:t>
            </a:r>
            <a:endParaRPr lang="en-US" sz="1600" dirty="0">
              <a:latin typeface="Times New Roman" panose="02020603050405020304" pitchFamily="18" charset="0"/>
              <a:cs typeface="Times New Roman" panose="02020603050405020304" pitchFamily="18" charset="0"/>
            </a:endParaRPr>
          </a:p>
          <a:p>
            <a:pPr algn="just"/>
            <a:r>
              <a:rPr lang="en-US" sz="1600" dirty="0" smtClean="0">
                <a:latin typeface="Times New Roman" panose="02020603050405020304" pitchFamily="18" charset="0"/>
                <a:cs typeface="Times New Roman" panose="02020603050405020304" pitchFamily="18" charset="0"/>
              </a:rPr>
              <a:t>Proposed </a:t>
            </a:r>
            <a:r>
              <a:rPr lang="en-US" sz="1600" dirty="0">
                <a:latin typeface="Times New Roman" panose="02020603050405020304" pitchFamily="18" charset="0"/>
                <a:cs typeface="Times New Roman" panose="02020603050405020304" pitchFamily="18" charset="0"/>
              </a:rPr>
              <a:t>model shows promise with comparable or superior accuracy.</a:t>
            </a: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r>
              <a:rPr lang="en-US" dirty="0"/>
              <a:t>02/01/2025</a:t>
            </a:r>
          </a:p>
        </p:txBody>
      </p:sp>
      <p:sp>
        <p:nvSpPr>
          <p:cNvPr id="16" name="Slide Number Placeholder 15"/>
          <p:cNvSpPr>
            <a:spLocks noGrp="1"/>
          </p:cNvSpPr>
          <p:nvPr>
            <p:ph type="sldNum" sz="quarter" idx="12"/>
          </p:nvPr>
        </p:nvSpPr>
        <p:spPr/>
        <p:txBody>
          <a:bodyPr/>
          <a:lstStyle/>
          <a:p>
            <a:fld id="{21BAB6EE-EAEA-4561-8880-8DF9D3AB286A}" type="slidenum">
              <a:rPr lang="en-US" smtClean="0"/>
              <a:pPr/>
              <a:t>9</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228600" y="5631359"/>
            <a:ext cx="8915400" cy="769441"/>
          </a:xfrm>
          <a:prstGeom prst="rect">
            <a:avLst/>
          </a:prstGeom>
          <a:noFill/>
        </p:spPr>
        <p:txBody>
          <a:bodyPr wrap="square" rtlCol="0">
            <a:spAutoFit/>
          </a:bodyPr>
          <a:lstStyle/>
          <a:p>
            <a:r>
              <a:rPr lang="en-US" sz="4400" u="sng" dirty="0" smtClean="0">
                <a:solidFill>
                  <a:schemeClr val="tx2">
                    <a:lumMod val="75000"/>
                  </a:schemeClr>
                </a:solidFill>
              </a:rPr>
              <a:t>______________________________</a:t>
            </a:r>
            <a:endParaRPr lang="en-US" sz="4400" u="sng" dirty="0">
              <a:solidFill>
                <a:schemeClr val="tx2">
                  <a:lumMod val="75000"/>
                </a:schemeClr>
              </a:solidFill>
            </a:endParaRPr>
          </a:p>
        </p:txBody>
      </p:sp>
      <p:sp>
        <p:nvSpPr>
          <p:cNvPr id="12" name="TextBox 11"/>
          <p:cNvSpPr txBox="1"/>
          <p:nvPr/>
        </p:nvSpPr>
        <p:spPr>
          <a:xfrm>
            <a:off x="238125" y="75827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pic>
        <p:nvPicPr>
          <p:cNvPr id="15" name="Picture 14"/>
          <p:cNvPicPr/>
          <p:nvPr/>
        </p:nvPicPr>
        <p:blipFill>
          <a:blip r:embed="rId4"/>
          <a:stretch>
            <a:fillRect/>
          </a:stretch>
        </p:blipFill>
        <p:spPr>
          <a:xfrm>
            <a:off x="603504" y="2777672"/>
            <a:ext cx="8083296" cy="3394528"/>
          </a:xfrm>
          <a:prstGeom prst="rect">
            <a:avLst/>
          </a:prstGeom>
        </p:spPr>
      </p:pic>
    </p:spTree>
    <p:extLst>
      <p:ext uri="{BB962C8B-B14F-4D97-AF65-F5344CB8AC3E}">
        <p14:creationId xmlns:p14="http://schemas.microsoft.com/office/powerpoint/2010/main" val="14505377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00">
        <p15:prstTrans prst="pageCurlDouble"/>
      </p:transition>
    </mc:Choice>
    <mc:Fallback xmlns="">
      <p:transition spd="slow" advTm="9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latin typeface="Times New Roman" panose="02020603050405020304" pitchFamily="18" charset="0"/>
                <a:cs typeface="Times New Roman" panose="02020603050405020304" pitchFamily="18" charset="0"/>
              </a:rPr>
              <a:t>Conclusion</a:t>
            </a: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525963"/>
          </a:xfrm>
        </p:spPr>
        <p:txBody>
          <a:bodyPr>
            <a:noAutofit/>
          </a:bodyPr>
          <a:lstStyle/>
          <a:p>
            <a:pPr marL="379412" indent="-285750" algn="just"/>
            <a:r>
              <a:rPr lang="en-US" sz="1600" dirty="0" smtClean="0">
                <a:latin typeface="Times New Roman" panose="02020603050405020304" pitchFamily="18" charset="0"/>
                <a:cs typeface="Times New Roman" panose="02020603050405020304" pitchFamily="18" charset="0"/>
              </a:rPr>
              <a:t>Explored </a:t>
            </a:r>
            <a:r>
              <a:rPr lang="en-US" sz="1600" dirty="0">
                <a:latin typeface="Times New Roman" panose="02020603050405020304" pitchFamily="18" charset="0"/>
                <a:cs typeface="Times New Roman" panose="02020603050405020304" pitchFamily="18" charset="0"/>
              </a:rPr>
              <a:t>diverse classifiers: Decision Tree, Naive Bayes, Logistic Regression, SVM, and </a:t>
            </a:r>
            <a:r>
              <a:rPr lang="en-US" sz="1600" dirty="0" smtClean="0">
                <a:latin typeface="Times New Roman" panose="02020603050405020304" pitchFamily="18" charset="0"/>
                <a:cs typeface="Times New Roman" panose="02020603050405020304" pitchFamily="18" charset="0"/>
              </a:rPr>
              <a:t>Random Forest.</a:t>
            </a:r>
          </a:p>
          <a:p>
            <a:pPr marL="379412" indent="-285750" algn="just"/>
            <a:r>
              <a:rPr lang="en-US" sz="1600" dirty="0" smtClean="0">
                <a:latin typeface="Times New Roman" panose="02020603050405020304" pitchFamily="18" charset="0"/>
                <a:cs typeface="Times New Roman" panose="02020603050405020304" pitchFamily="18" charset="0"/>
              </a:rPr>
              <a:t>Proposed Ensemble Classifier: Leveraging strong and weak classifiers for heightened predictive accuracy.</a:t>
            </a:r>
          </a:p>
          <a:p>
            <a:pPr marL="379412" indent="-285750" algn="just"/>
            <a:r>
              <a:rPr lang="en-US" sz="1600" dirty="0" smtClean="0">
                <a:latin typeface="Times New Roman" panose="02020603050405020304" pitchFamily="18" charset="0"/>
                <a:cs typeface="Times New Roman" panose="02020603050405020304" pitchFamily="18" charset="0"/>
              </a:rPr>
              <a:t>Alarming </a:t>
            </a:r>
            <a:r>
              <a:rPr lang="en-US" sz="1600" dirty="0">
                <a:latin typeface="Times New Roman" panose="02020603050405020304" pitchFamily="18" charset="0"/>
                <a:cs typeface="Times New Roman" panose="02020603050405020304" pitchFamily="18" charset="0"/>
              </a:rPr>
              <a:t>Rise in Heart Diseases: WHO statistics and Global Burden of Disease Report highlight the critical need for accurate prediction and early intervention.</a:t>
            </a:r>
          </a:p>
          <a:p>
            <a:pPr marL="379412" indent="-285750" algn="just"/>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Economic </a:t>
            </a:r>
            <a:r>
              <a:rPr lang="en-US" sz="1600" dirty="0">
                <a:latin typeface="Times New Roman" panose="02020603050405020304" pitchFamily="18" charset="0"/>
                <a:cs typeface="Times New Roman" panose="02020603050405020304" pitchFamily="18" charset="0"/>
              </a:rPr>
              <a:t>Burden: Underscores urgency for innovative solutions in cardiovascular healthcare.</a:t>
            </a:r>
          </a:p>
          <a:p>
            <a:pPr marL="379412" indent="-285750" algn="just"/>
            <a:r>
              <a:rPr lang="en-US" sz="1600" dirty="0" smtClean="0">
                <a:latin typeface="Times New Roman" panose="02020603050405020304" pitchFamily="18" charset="0"/>
                <a:cs typeface="Times New Roman" panose="02020603050405020304" pitchFamily="18" charset="0"/>
              </a:rPr>
              <a:t>Tool </a:t>
            </a:r>
            <a:r>
              <a:rPr lang="en-US" sz="1600" dirty="0">
                <a:latin typeface="Times New Roman" panose="02020603050405020304" pitchFamily="18" charset="0"/>
                <a:cs typeface="Times New Roman" panose="02020603050405020304" pitchFamily="18" charset="0"/>
              </a:rPr>
              <a:t>Integration: Utilizing various tools and libraries for model development and assessment.</a:t>
            </a:r>
          </a:p>
          <a:p>
            <a:pPr marL="379412" indent="-285750" algn="just"/>
            <a:r>
              <a:rPr lang="en-US" sz="1600" dirty="0" smtClean="0">
                <a:latin typeface="Times New Roman" panose="02020603050405020304" pitchFamily="18" charset="0"/>
                <a:cs typeface="Times New Roman" panose="02020603050405020304" pitchFamily="18" charset="0"/>
              </a:rPr>
              <a:t>Dataset </a:t>
            </a:r>
            <a:r>
              <a:rPr lang="en-US" sz="1600" dirty="0">
                <a:latin typeface="Times New Roman" panose="02020603050405020304" pitchFamily="18" charset="0"/>
                <a:cs typeface="Times New Roman" panose="02020603050405020304" pitchFamily="18" charset="0"/>
              </a:rPr>
              <a:t>Source: UCI Machine Learning repository with 300 examples and 14 attributes.</a:t>
            </a:r>
          </a:p>
          <a:p>
            <a:pPr marL="379412" indent="-285750" algn="just"/>
            <a:r>
              <a:rPr lang="en-US" sz="1600" dirty="0" smtClean="0">
                <a:latin typeface="Times New Roman" panose="02020603050405020304" pitchFamily="18" charset="0"/>
                <a:cs typeface="Times New Roman" panose="02020603050405020304" pitchFamily="18" charset="0"/>
              </a:rPr>
              <a:t>Sequential </a:t>
            </a:r>
            <a:r>
              <a:rPr lang="en-US" sz="1600" dirty="0">
                <a:latin typeface="Times New Roman" panose="02020603050405020304" pitchFamily="18" charset="0"/>
                <a:cs typeface="Times New Roman" panose="02020603050405020304" pitchFamily="18" charset="0"/>
              </a:rPr>
              <a:t>Process: Data cleaning, transformation, integration, reduction, classification, splitting, and algorithm application.</a:t>
            </a:r>
          </a:p>
          <a:p>
            <a:pPr marL="379412" indent="-285750" algn="just"/>
            <a:r>
              <a:rPr lang="en-US" sz="1600" b="1" dirty="0" smtClean="0">
                <a:latin typeface="Times New Roman" panose="02020603050405020304" pitchFamily="18" charset="0"/>
                <a:cs typeface="Times New Roman" panose="02020603050405020304" pitchFamily="18" charset="0"/>
              </a:rPr>
              <a:t>Naïve </a:t>
            </a:r>
            <a:r>
              <a:rPr lang="en-US" sz="1600" b="1" dirty="0">
                <a:latin typeface="Times New Roman" panose="02020603050405020304" pitchFamily="18" charset="0"/>
                <a:cs typeface="Times New Roman" panose="02020603050405020304" pitchFamily="18" charset="0"/>
              </a:rPr>
              <a:t>Bayes: </a:t>
            </a:r>
            <a:r>
              <a:rPr lang="en-US" sz="1600" dirty="0">
                <a:latin typeface="Times New Roman" panose="02020603050405020304" pitchFamily="18" charset="0"/>
                <a:cs typeface="Times New Roman" panose="02020603050405020304" pitchFamily="18" charset="0"/>
              </a:rPr>
              <a:t>Simple and efficient but relies on independence assumptions.</a:t>
            </a:r>
          </a:p>
          <a:p>
            <a:pPr marL="379412" indent="-285750" algn="just"/>
            <a:r>
              <a:rPr lang="en-US" sz="1600" b="1" dirty="0" smtClean="0">
                <a:latin typeface="Times New Roman" panose="02020603050405020304" pitchFamily="18" charset="0"/>
                <a:cs typeface="Times New Roman" panose="02020603050405020304" pitchFamily="18" charset="0"/>
              </a:rPr>
              <a:t>Decision </a:t>
            </a:r>
            <a:r>
              <a:rPr lang="en-US" sz="1600" b="1" dirty="0">
                <a:latin typeface="Times New Roman" panose="02020603050405020304" pitchFamily="18" charset="0"/>
                <a:cs typeface="Times New Roman" panose="02020603050405020304" pitchFamily="18" charset="0"/>
              </a:rPr>
              <a:t>Tree: </a:t>
            </a:r>
            <a:r>
              <a:rPr lang="en-US" sz="1600" dirty="0">
                <a:latin typeface="Times New Roman" panose="02020603050405020304" pitchFamily="18" charset="0"/>
                <a:cs typeface="Times New Roman" panose="02020603050405020304" pitchFamily="18" charset="0"/>
              </a:rPr>
              <a:t>Interpretable model with potential for </a:t>
            </a:r>
            <a:r>
              <a:rPr lang="en-US" sz="1600" dirty="0" err="1">
                <a:latin typeface="Times New Roman" panose="02020603050405020304" pitchFamily="18" charset="0"/>
                <a:cs typeface="Times New Roman" panose="02020603050405020304" pitchFamily="18" charset="0"/>
              </a:rPr>
              <a:t>overclassification</a:t>
            </a:r>
            <a:r>
              <a:rPr lang="en-US" sz="1600" dirty="0">
                <a:latin typeface="Times New Roman" panose="02020603050405020304" pitchFamily="18" charset="0"/>
                <a:cs typeface="Times New Roman" panose="02020603050405020304" pitchFamily="18" charset="0"/>
              </a:rPr>
              <a:t>.</a:t>
            </a:r>
          </a:p>
          <a:p>
            <a:pPr marL="379412" indent="-285750" algn="just"/>
            <a:r>
              <a:rPr lang="en-US" sz="1600" b="1" dirty="0" smtClean="0">
                <a:latin typeface="Times New Roman" panose="02020603050405020304" pitchFamily="18" charset="0"/>
                <a:cs typeface="Times New Roman" panose="02020603050405020304" pitchFamily="18" charset="0"/>
              </a:rPr>
              <a:t>K-nearest </a:t>
            </a:r>
            <a:r>
              <a:rPr lang="en-US" sz="1600" b="1" dirty="0">
                <a:latin typeface="Times New Roman" panose="02020603050405020304" pitchFamily="18" charset="0"/>
                <a:cs typeface="Times New Roman" panose="02020603050405020304" pitchFamily="18" charset="0"/>
              </a:rPr>
              <a:t>neighbor: </a:t>
            </a:r>
            <a:r>
              <a:rPr lang="en-US" sz="1600" dirty="0">
                <a:latin typeface="Times New Roman" panose="02020603050405020304" pitchFamily="18" charset="0"/>
                <a:cs typeface="Times New Roman" panose="02020603050405020304" pitchFamily="18" charset="0"/>
              </a:rPr>
              <a:t>Simple yet sensitive to irrelevant features.</a:t>
            </a:r>
          </a:p>
          <a:p>
            <a:pPr marL="379412" indent="-285750" algn="just"/>
            <a:r>
              <a:rPr lang="en-US" sz="1600" dirty="0" smtClean="0">
                <a:latin typeface="Times New Roman" panose="02020603050405020304" pitchFamily="18" charset="0"/>
                <a:cs typeface="Times New Roman" panose="02020603050405020304" pitchFamily="18" charset="0"/>
              </a:rPr>
              <a:t>Random </a:t>
            </a:r>
            <a:r>
              <a:rPr lang="en-US" sz="1600" dirty="0">
                <a:latin typeface="Times New Roman" panose="02020603050405020304" pitchFamily="18" charset="0"/>
                <a:cs typeface="Times New Roman" panose="02020603050405020304" pitchFamily="18" charset="0"/>
              </a:rPr>
              <a:t>Forest: High accuracy with an ensemble approach but requires substantial data.</a:t>
            </a:r>
          </a:p>
          <a:p>
            <a:pPr algn="just"/>
            <a:endParaRPr lang="en-US"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457200" y="6400800"/>
            <a:ext cx="2133600" cy="365125"/>
          </a:xfrm>
        </p:spPr>
        <p:txBody>
          <a:bodyPr/>
          <a:lstStyle/>
          <a:p>
            <a:r>
              <a:rPr lang="en-US" dirty="0"/>
              <a:t>02/01/2025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228600" y="563135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sp>
        <p:nvSpPr>
          <p:cNvPr id="10" name="TextBox 9"/>
          <p:cNvSpPr txBox="1"/>
          <p:nvPr/>
        </p:nvSpPr>
        <p:spPr>
          <a:xfrm>
            <a:off x="228600" y="739478"/>
            <a:ext cx="8915400" cy="769441"/>
          </a:xfrm>
          <a:prstGeom prst="rect">
            <a:avLst/>
          </a:prstGeom>
          <a:noFill/>
        </p:spPr>
        <p:txBody>
          <a:bodyPr wrap="square" rtlCol="0">
            <a:spAutoFit/>
          </a:bodyPr>
          <a:lstStyle/>
          <a:p>
            <a:r>
              <a:rPr lang="en-US" sz="4400" u="sng" dirty="0" smtClean="0">
                <a:solidFill>
                  <a:schemeClr val="tx2">
                    <a:lumMod val="75000"/>
                  </a:schemeClr>
                </a:solidFill>
              </a:rPr>
              <a:t>_______________________________</a:t>
            </a:r>
            <a:endParaRPr lang="en-US" sz="4400" u="sng" dirty="0">
              <a:solidFill>
                <a:schemeClr val="tx2">
                  <a:lumMod val="75000"/>
                </a:schemeClr>
              </a:solidFill>
            </a:endParaRPr>
          </a:p>
        </p:txBody>
      </p:sp>
      <p:pic>
        <p:nvPicPr>
          <p:cNvPr id="11" name="Picture 10"/>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Tree>
    <p:extLst>
      <p:ext uri="{BB962C8B-B14F-4D97-AF65-F5344CB8AC3E}">
        <p14:creationId xmlns:p14="http://schemas.microsoft.com/office/powerpoint/2010/main" val="530249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05">
        <p15:prstTrans prst="pageCurlDouble"/>
      </p:transition>
    </mc:Choice>
    <mc:Fallback xmlns="">
      <p:transition spd="slow" advTm="905">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682388"/>
            <a:ext cx="8229600" cy="1143000"/>
          </a:xfrm>
        </p:spPr>
        <p:txBody>
          <a:bodyPr>
            <a:normAutofit fontScale="90000"/>
          </a:bodyPr>
          <a:lstStyle/>
          <a:p>
            <a:r>
              <a:rPr lang="en-US" b="1" i="1" dirty="0">
                <a:latin typeface="Times New Roman" panose="02020603050405020304" pitchFamily="18" charset="0"/>
                <a:cs typeface="Times New Roman" panose="02020603050405020304" pitchFamily="18" charset="0"/>
              </a:rPr>
              <a:t>References</a:t>
            </a:r>
            <a:br>
              <a:rPr lang="en-US" b="1" i="1" dirty="0">
                <a:latin typeface="Times New Roman" panose="02020603050405020304" pitchFamily="18" charset="0"/>
                <a:cs typeface="Times New Roman" panose="02020603050405020304" pitchFamily="18" charset="0"/>
              </a:rPr>
            </a:br>
            <a:endParaRPr lang="en-US" dirty="0"/>
          </a:p>
        </p:txBody>
      </p:sp>
      <p:sp>
        <p:nvSpPr>
          <p:cNvPr id="4" name="Date Placeholder 3"/>
          <p:cNvSpPr>
            <a:spLocks noGrp="1"/>
          </p:cNvSpPr>
          <p:nvPr>
            <p:ph type="dt" sz="half" idx="10"/>
          </p:nvPr>
        </p:nvSpPr>
        <p:spPr>
          <a:xfrm>
            <a:off x="457200" y="6400800"/>
            <a:ext cx="2133600" cy="365125"/>
          </a:xfrm>
        </p:spPr>
        <p:txBody>
          <a:bodyPr/>
          <a:lstStyle/>
          <a:p>
            <a:r>
              <a:rPr lang="en-US" dirty="0"/>
              <a:t>02/01/2025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228600" y="563135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sp>
        <p:nvSpPr>
          <p:cNvPr id="10" name="TextBox 9"/>
          <p:cNvSpPr txBox="1"/>
          <p:nvPr/>
        </p:nvSpPr>
        <p:spPr>
          <a:xfrm>
            <a:off x="228600" y="685800"/>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sp>
        <p:nvSpPr>
          <p:cNvPr id="20" name="Rectangle 19"/>
          <p:cNvSpPr/>
          <p:nvPr/>
        </p:nvSpPr>
        <p:spPr>
          <a:xfrm>
            <a:off x="396688" y="1529921"/>
            <a:ext cx="8144435" cy="4955203"/>
          </a:xfrm>
          <a:prstGeom prst="rect">
            <a:avLst/>
          </a:prstGeom>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err="1">
                <a:latin typeface="Times New Roman" panose="02020603050405020304" pitchFamily="18" charset="0"/>
                <a:ea typeface="Calibri" panose="020F0502020204030204" pitchFamily="34" charset="0"/>
                <a:cs typeface="Times New Roman" panose="02020603050405020304" pitchFamily="18" charset="0"/>
              </a:rPr>
              <a:t>Ke</a:t>
            </a:r>
            <a:r>
              <a:rPr lang="en-US" altLang="en-US" dirty="0">
                <a:latin typeface="Times New Roman" panose="02020603050405020304" pitchFamily="18" charset="0"/>
                <a:ea typeface="Calibri" panose="020F0502020204030204" pitchFamily="34" charset="0"/>
                <a:cs typeface="Times New Roman" panose="02020603050405020304" pitchFamily="18" charset="0"/>
              </a:rPr>
              <a:t>, G. Q.-Y. (2017). </a:t>
            </a:r>
            <a:r>
              <a:rPr lang="en-US" altLang="en-US" dirty="0" err="1">
                <a:latin typeface="Times New Roman" panose="02020603050405020304" pitchFamily="18" charset="0"/>
                <a:ea typeface="Calibri" panose="020F0502020204030204" pitchFamily="34" charset="0"/>
                <a:cs typeface="Times New Roman" panose="02020603050405020304" pitchFamily="18" charset="0"/>
              </a:rPr>
              <a:t>Lightgbm</a:t>
            </a:r>
            <a:r>
              <a:rPr lang="en-US" altLang="en-US" dirty="0">
                <a:latin typeface="Times New Roman" panose="02020603050405020304" pitchFamily="18" charset="0"/>
                <a:ea typeface="Calibri" panose="020F0502020204030204" pitchFamily="34" charset="0"/>
                <a:cs typeface="Times New Roman" panose="02020603050405020304" pitchFamily="18" charset="0"/>
              </a:rPr>
              <a:t>: A highly efficient gradient boosting decision tree.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Advances in neural information processing systems</a:t>
            </a:r>
            <a:r>
              <a:rPr lang="en-US" altLang="en-US" dirty="0">
                <a:latin typeface="Times New Roman" panose="02020603050405020304" pitchFamily="18" charset="0"/>
                <a:ea typeface="Calibri" panose="020F0502020204030204" pitchFamily="34" charset="0"/>
                <a:cs typeface="Times New Roman" panose="02020603050405020304" pitchFamily="18" charset="0"/>
              </a:rPr>
              <a:t>.</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err="1" smtClean="0">
                <a:latin typeface="Times New Roman" panose="02020603050405020304" pitchFamily="18" charset="0"/>
                <a:ea typeface="Calibri" panose="020F0502020204030204" pitchFamily="34" charset="0"/>
                <a:cs typeface="Times New Roman" panose="02020603050405020304" pitchFamily="18" charset="0"/>
              </a:rPr>
              <a:t>Mohanty</a:t>
            </a:r>
            <a:r>
              <a:rPr lang="en-US" altLang="en-US" dirty="0">
                <a:latin typeface="Times New Roman" panose="02020603050405020304" pitchFamily="18" charset="0"/>
                <a:ea typeface="Calibri" panose="020F0502020204030204" pitchFamily="34" charset="0"/>
                <a:cs typeface="Times New Roman" panose="02020603050405020304" pitchFamily="18" charset="0"/>
              </a:rPr>
              <a:t>, S. N. (2020). . Recommender system with machine learning and artificial intelligence: practical tools and applications in medical, agricultural and other industries.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John Wiley &amp; Sons</a:t>
            </a:r>
            <a:r>
              <a:rPr lang="en-US" altLang="en-US" dirty="0">
                <a:latin typeface="Times New Roman" panose="02020603050405020304" pitchFamily="18" charset="0"/>
                <a:ea typeface="Calibri" panose="020F0502020204030204" pitchFamily="34" charset="0"/>
                <a:cs typeface="Times New Roman" panose="02020603050405020304" pitchFamily="18" charset="0"/>
              </a:rPr>
              <a:t>.</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Times New Roman" panose="02020603050405020304" pitchFamily="18" charset="0"/>
                <a:ea typeface="Calibri" panose="020F0502020204030204" pitchFamily="34" charset="0"/>
                <a:cs typeface="Times New Roman" panose="02020603050405020304" pitchFamily="18" charset="0"/>
              </a:rPr>
              <a:t>Pedregosa</a:t>
            </a:r>
            <a:r>
              <a:rPr lang="en-US" altLang="en-US" dirty="0">
                <a:latin typeface="Times New Roman" panose="02020603050405020304" pitchFamily="18" charset="0"/>
                <a:ea typeface="Calibri" panose="020F0502020204030204" pitchFamily="34" charset="0"/>
                <a:cs typeface="Times New Roman" panose="02020603050405020304" pitchFamily="18" charset="0"/>
              </a:rPr>
              <a:t>, F. G. (2011). </a:t>
            </a:r>
            <a:r>
              <a:rPr lang="en-US" altLang="en-US" dirty="0" err="1">
                <a:latin typeface="Times New Roman" panose="02020603050405020304" pitchFamily="18" charset="0"/>
                <a:ea typeface="Calibri" panose="020F0502020204030204" pitchFamily="34" charset="0"/>
                <a:cs typeface="Times New Roman" panose="02020603050405020304" pitchFamily="18" charset="0"/>
              </a:rPr>
              <a:t>Scikit</a:t>
            </a:r>
            <a:r>
              <a:rPr lang="en-US" altLang="en-US" dirty="0">
                <a:latin typeface="Times New Roman" panose="02020603050405020304" pitchFamily="18" charset="0"/>
                <a:ea typeface="Calibri" panose="020F0502020204030204" pitchFamily="34" charset="0"/>
                <a:cs typeface="Times New Roman" panose="02020603050405020304" pitchFamily="18" charset="0"/>
              </a:rPr>
              <a:t>-learn: Machine learning in Python.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the Journal of machine Learning research </a:t>
            </a:r>
            <a:r>
              <a:rPr lang="en-US" altLang="en-US" dirty="0">
                <a:latin typeface="Times New Roman" panose="02020603050405020304" pitchFamily="18" charset="0"/>
                <a:ea typeface="Calibri" panose="020F0502020204030204" pitchFamily="34" charset="0"/>
                <a:cs typeface="Times New Roman" panose="02020603050405020304" pitchFamily="18" charset="0"/>
              </a:rPr>
              <a:t>, 2825-2830.</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Times New Roman" panose="02020603050405020304" pitchFamily="18" charset="0"/>
                <a:ea typeface="Calibri" panose="020F0502020204030204" pitchFamily="34" charset="0"/>
                <a:cs typeface="Times New Roman" panose="02020603050405020304" pitchFamily="18" charset="0"/>
              </a:rPr>
              <a:t>Rindhe</a:t>
            </a:r>
            <a:r>
              <a:rPr lang="en-US" altLang="en-US" dirty="0">
                <a:latin typeface="Times New Roman" panose="02020603050405020304" pitchFamily="18" charset="0"/>
                <a:ea typeface="Calibri" panose="020F0502020204030204" pitchFamily="34" charset="0"/>
                <a:cs typeface="Times New Roman" panose="02020603050405020304" pitchFamily="18" charset="0"/>
              </a:rPr>
              <a:t>, B. U. (2021). "Heart disease prediction using machine learning.".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Heart Disease</a:t>
            </a:r>
            <a:r>
              <a:rPr lang="en-US" altLang="en-US" dirty="0">
                <a:latin typeface="Times New Roman" panose="02020603050405020304" pitchFamily="18" charset="0"/>
                <a:ea typeface="Calibri" panose="020F0502020204030204" pitchFamily="34" charset="0"/>
                <a:cs typeface="Times New Roman" panose="02020603050405020304" pitchFamily="18" charset="0"/>
              </a:rPr>
              <a:t>.</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ea typeface="Calibri" panose="020F0502020204030204" pitchFamily="34" charset="0"/>
                <a:cs typeface="Times New Roman" panose="02020603050405020304" pitchFamily="18" charset="0"/>
              </a:rPr>
              <a:t>Shah, D. S. (2020). Heart disease prediction using machine learning techniques.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SN Computer Science</a:t>
            </a:r>
            <a:r>
              <a:rPr lang="en-US" altLang="en-US" dirty="0">
                <a:latin typeface="Times New Roman" panose="02020603050405020304" pitchFamily="18" charset="0"/>
                <a:ea typeface="Calibri" panose="020F0502020204030204" pitchFamily="34" charset="0"/>
                <a:cs typeface="Times New Roman" panose="02020603050405020304" pitchFamily="18" charset="0"/>
              </a:rPr>
              <a:t>, 1-6.</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Times New Roman" panose="02020603050405020304" pitchFamily="18" charset="0"/>
                <a:ea typeface="Calibri" panose="020F0502020204030204" pitchFamily="34" charset="0"/>
                <a:cs typeface="Times New Roman" panose="02020603050405020304" pitchFamily="18" charset="0"/>
              </a:rPr>
              <a:t>Sidey</a:t>
            </a:r>
            <a:r>
              <a:rPr lang="en-US" altLang="en-US" dirty="0">
                <a:latin typeface="Times New Roman" panose="02020603050405020304" pitchFamily="18" charset="0"/>
                <a:ea typeface="Calibri" panose="020F0502020204030204" pitchFamily="34" charset="0"/>
                <a:cs typeface="Times New Roman" panose="02020603050405020304" pitchFamily="18" charset="0"/>
              </a:rPr>
              <a:t>-Gibbons, J., &amp; Chris J., S.-G. (2019). Machine learning in medicine: a practical introduction.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BMC medical research methodology</a:t>
            </a:r>
            <a:r>
              <a:rPr lang="en-US" altLang="en-US" dirty="0">
                <a:latin typeface="Times New Roman" panose="02020603050405020304" pitchFamily="18" charset="0"/>
                <a:ea typeface="Calibri" panose="020F0502020204030204" pitchFamily="34" charset="0"/>
                <a:cs typeface="Times New Roman" panose="02020603050405020304" pitchFamily="18" charset="0"/>
              </a:rPr>
              <a:t>, 1-8.</a:t>
            </a:r>
            <a:endParaRPr lang="en-US" altLang="en-US" sz="1050" dirty="0"/>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ea typeface="Calibri" panose="020F0502020204030204" pitchFamily="34" charset="0"/>
                <a:cs typeface="Times New Roman" panose="02020603050405020304" pitchFamily="18" charset="0"/>
              </a:rPr>
              <a:t>Singh, A. a. (2020). Heart disease prediction using machine learning algorithms. </a:t>
            </a:r>
            <a:r>
              <a:rPr lang="en-US" altLang="en-US" i="1" dirty="0">
                <a:latin typeface="Times New Roman" panose="02020603050405020304" pitchFamily="18" charset="0"/>
                <a:ea typeface="Calibri" panose="020F0502020204030204" pitchFamily="34" charset="0"/>
                <a:cs typeface="Times New Roman" panose="02020603050405020304" pitchFamily="18" charset="0"/>
              </a:rPr>
              <a:t>international conference on electrical and electronics engineering (ICE3),</a:t>
            </a:r>
            <a:r>
              <a:rPr lang="en-US" altLang="en-US" dirty="0">
                <a:latin typeface="Times New Roman" panose="02020603050405020304" pitchFamily="18" charset="0"/>
                <a:ea typeface="Calibri" panose="020F0502020204030204" pitchFamily="34" charset="0"/>
                <a:cs typeface="Times New Roman" panose="02020603050405020304" pitchFamily="18" charset="0"/>
              </a:rPr>
              <a:t>, 452-457.</a:t>
            </a:r>
            <a:endParaRPr lang="en-US" altLang="en-US" sz="1050" dirty="0"/>
          </a:p>
          <a:p>
            <a:pPr marL="457200" lvl="0" indent="-457200" eaLnBrk="0" fontAlgn="base" hangingPunct="0">
              <a:spcBef>
                <a:spcPct val="0"/>
              </a:spcBef>
              <a:spcAft>
                <a:spcPct val="0"/>
              </a:spcAft>
              <a:buFont typeface="Arial" panose="020B0604020202020204" pitchFamily="34" charset="0"/>
              <a:buChar char="•"/>
            </a:pPr>
            <a:endParaRPr lang="en-US" altLang="en-US" sz="2800" dirty="0">
              <a:latin typeface="Arial" panose="020B0604020202020204" pitchFamily="34" charset="0"/>
            </a:endParaRPr>
          </a:p>
        </p:txBody>
      </p:sp>
      <p:pic>
        <p:nvPicPr>
          <p:cNvPr id="11" name="Picture 10"/>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Tree>
    <p:extLst>
      <p:ext uri="{BB962C8B-B14F-4D97-AF65-F5344CB8AC3E}">
        <p14:creationId xmlns:p14="http://schemas.microsoft.com/office/powerpoint/2010/main" val="21430964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5050">
        <p15:prstTrans prst="pageCurlDouble"/>
      </p:transition>
    </mc:Choice>
    <mc:Fallback xmlns="">
      <p:transition spd="slow" advTm="505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400800"/>
            <a:ext cx="2133600" cy="365125"/>
          </a:xfrm>
        </p:spPr>
        <p:txBody>
          <a:bodyPr/>
          <a:lstStyle/>
          <a:p>
            <a:r>
              <a:rPr lang="en-US" dirty="0"/>
              <a:t>02/01/2025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Rectangle 6"/>
          <p:cNvSpPr/>
          <p:nvPr/>
        </p:nvSpPr>
        <p:spPr>
          <a:xfrm>
            <a:off x="883920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0"/>
            <a:ext cx="304800" cy="68580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228600" y="5631359"/>
            <a:ext cx="8915400" cy="769441"/>
          </a:xfrm>
          <a:prstGeom prst="rect">
            <a:avLst/>
          </a:prstGeom>
          <a:noFill/>
        </p:spPr>
        <p:txBody>
          <a:bodyPr wrap="square" rtlCol="0">
            <a:spAutoFit/>
          </a:bodyPr>
          <a:lstStyle/>
          <a:p>
            <a:r>
              <a:rPr lang="en-US" sz="4400" u="sng" dirty="0">
                <a:solidFill>
                  <a:schemeClr val="tx2">
                    <a:lumMod val="75000"/>
                  </a:schemeClr>
                </a:solidFill>
              </a:rPr>
              <a:t>_______________________________</a:t>
            </a:r>
          </a:p>
        </p:txBody>
      </p:sp>
      <p:sp>
        <p:nvSpPr>
          <p:cNvPr id="10" name="TextBox 9"/>
          <p:cNvSpPr txBox="1"/>
          <p:nvPr/>
        </p:nvSpPr>
        <p:spPr>
          <a:xfrm>
            <a:off x="184245" y="758279"/>
            <a:ext cx="8915400" cy="769441"/>
          </a:xfrm>
          <a:prstGeom prst="rect">
            <a:avLst/>
          </a:prstGeom>
          <a:noFill/>
        </p:spPr>
        <p:txBody>
          <a:bodyPr wrap="square" rtlCol="0">
            <a:spAutoFit/>
          </a:bodyPr>
          <a:lstStyle/>
          <a:p>
            <a:r>
              <a:rPr lang="en-US" sz="4400" u="sng" dirty="0" smtClean="0">
                <a:solidFill>
                  <a:schemeClr val="tx2">
                    <a:lumMod val="75000"/>
                  </a:schemeClr>
                </a:solidFill>
              </a:rPr>
              <a:t>_______________________________</a:t>
            </a:r>
            <a:endParaRPr lang="en-US" sz="4400" u="sng" dirty="0">
              <a:solidFill>
                <a:schemeClr val="tx2">
                  <a:lumMod val="75000"/>
                </a:schemeClr>
              </a:solidFill>
            </a:endParaRPr>
          </a:p>
        </p:txBody>
      </p:sp>
      <p:pic>
        <p:nvPicPr>
          <p:cNvPr id="11" name="Picture 10"/>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7699248" y="301752"/>
            <a:ext cx="841248" cy="841248"/>
          </a:xfrm>
          <a:prstGeom prst="rect">
            <a:avLst/>
          </a:prstGeom>
        </p:spPr>
      </p:pic>
      <p:sp>
        <p:nvSpPr>
          <p:cNvPr id="3" name="TextBox 2"/>
          <p:cNvSpPr txBox="1"/>
          <p:nvPr/>
        </p:nvSpPr>
        <p:spPr>
          <a:xfrm>
            <a:off x="1895617" y="2705726"/>
            <a:ext cx="5492655" cy="1446550"/>
          </a:xfrm>
          <a:prstGeom prst="rect">
            <a:avLst/>
          </a:prstGeom>
          <a:noFill/>
        </p:spPr>
        <p:txBody>
          <a:bodyPr wrap="square" rtlCol="0" anchor="ctr">
            <a:spAutoFit/>
            <a:scene3d>
              <a:camera prst="obliqueTopLeft"/>
              <a:lightRig rig="threePt" dir="t"/>
            </a:scene3d>
          </a:bodyPr>
          <a:lstStyle/>
          <a:p>
            <a:pPr algn="ctr"/>
            <a:r>
              <a:rPr lang="en-US" sz="8800" b="1" dirty="0" smtClean="0">
                <a:ln w="12700">
                  <a:solidFill>
                    <a:srgbClr val="17375E"/>
                  </a:solidFill>
                  <a:prstDash val="solid"/>
                </a:ln>
                <a:solidFill>
                  <a:srgbClr val="17375E"/>
                </a:solidFill>
                <a:effectLst>
                  <a:outerShdw dist="38100" dir="2640000" algn="bl" rotWithShape="0">
                    <a:schemeClr val="accent1"/>
                  </a:outerShdw>
                </a:effectLst>
                <a:latin typeface="Aldhabi" panose="01000000000000000000" pitchFamily="2" charset="-78"/>
                <a:cs typeface="Aldhabi" panose="01000000000000000000" pitchFamily="2" charset="-78"/>
              </a:rPr>
              <a:t>THANK YOU</a:t>
            </a:r>
            <a:endParaRPr lang="en-US" sz="8800" b="1" dirty="0">
              <a:ln w="12700">
                <a:solidFill>
                  <a:srgbClr val="17375E"/>
                </a:solidFill>
                <a:prstDash val="solid"/>
              </a:ln>
              <a:solidFill>
                <a:srgbClr val="17375E"/>
              </a:solidFill>
              <a:effectLst>
                <a:outerShdw dist="38100" dir="2640000" algn="bl" rotWithShape="0">
                  <a:schemeClr val="accent1"/>
                </a:outerShdw>
              </a:effectLst>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42615423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1135">
        <p15:prstTrans prst="curtains"/>
      </p:transition>
    </mc:Choice>
    <mc:Fallback xmlns="">
      <p:transition spd="slow" advTm="1135">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8733</TotalTime>
  <Words>1080</Words>
  <Application>Microsoft Office PowerPoint</Application>
  <PresentationFormat>On-screen Show (4:3)</PresentationFormat>
  <Paragraphs>162</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Aldhabi</vt:lpstr>
      <vt:lpstr>Arial</vt:lpstr>
      <vt:lpstr>Calibri</vt:lpstr>
      <vt:lpstr>Times New Roman</vt:lpstr>
      <vt:lpstr>Office Theme</vt:lpstr>
      <vt:lpstr>PowerPoint Presentation</vt:lpstr>
      <vt:lpstr>HEART DISEASE PREDICTION USING MACHINE LEARNING</vt:lpstr>
      <vt:lpstr>Outline</vt:lpstr>
      <vt:lpstr>Abstract </vt:lpstr>
      <vt:lpstr>Introduction </vt:lpstr>
      <vt:lpstr>Literature Review </vt:lpstr>
      <vt:lpstr>Proposed Methodology </vt:lpstr>
      <vt:lpstr>Results </vt:lpstr>
      <vt:lpstr>Results </vt:lpstr>
      <vt:lpstr>Conclusion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waqas</dc:creator>
  <cp:lastModifiedBy>User</cp:lastModifiedBy>
  <cp:revision>196</cp:revision>
  <dcterms:created xsi:type="dcterms:W3CDTF">2006-08-16T00:00:00Z</dcterms:created>
  <dcterms:modified xsi:type="dcterms:W3CDTF">2025-06-13T11:38:15Z</dcterms:modified>
</cp:coreProperties>
</file>